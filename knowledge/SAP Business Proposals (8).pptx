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Enabling Sustainable Operations with SAP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Presentation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000"/>
              <a:t>The Growing Importance of Sustainability (ESG)</a:t>
            </a:r>
          </a:p>
          <a:p>
            <a:pPr/>
            <a:r>
              <a:rPr sz="2000"/>
              <a:t>Key Challenges in ESG Management</a:t>
            </a:r>
          </a:p>
          <a:p>
            <a:pPr/>
            <a:r>
              <a:rPr sz="2000"/>
              <a:t>SAP's Vision for Sustainable Business</a:t>
            </a:r>
          </a:p>
          <a:p>
            <a:pPr/>
            <a:r>
              <a:rPr sz="2000"/>
              <a:t>Proposal: Leveraging SAP Sustainability Solutions</a:t>
            </a:r>
          </a:p>
          <a:p>
            <a:pPr/>
            <a:r>
              <a:rPr sz="2000"/>
              <a:t>Key SAP Sustainability Solutions</a:t>
            </a:r>
          </a:p>
          <a:p>
            <a:pPr/>
            <a:r>
              <a:rPr sz="2000"/>
              <a:t>Benefits of an Integrated Sustainability Strategy</a:t>
            </a:r>
          </a:p>
          <a:p>
            <a:pPr/>
            <a:r>
              <a:rPr sz="2000"/>
              <a:t>Implementation Roadmap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Growing Importance of Sustainability (ESG)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Increasing stakeholder pressure (investors, customers, employees, regulators) for responsible business practices.</a:t>
            </a:r>
          </a:p>
          <a:p>
            <a:pPr/>
            <a:r>
              <a:rPr sz="2000"/>
              <a:t>Sustainability is no longer just a compliance issue, but a strategic imperative for long-term growth and competitiveness.</a:t>
            </a:r>
          </a:p>
          <a:p>
            <a:pPr/>
            <a:r>
              <a:rPr sz="2000"/>
              <a:t>ESG factors are crucial for risk management, operational efficiency, brand reputation, and attracting talent.</a:t>
            </a:r>
          </a:p>
          <a:p>
            <a:pPr/>
            <a:r>
              <a:rPr sz="2000"/>
              <a:t>Global goals (e.g., SDGs, Paris Agreement) require significant corporate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Challenges in ESG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Data Collection &amp; Integration:</a:t>
            </a:r>
            <a:r>
              <a:rPr sz="2000"/>
              <a:t> Gathering accurate, consistent, and comprehensive ESG data across the value chain.</a:t>
            </a:r>
          </a:p>
          <a:p>
            <a:pPr/>
            <a:r>
              <a:rPr sz="2000"/>
              <a:t> </a:t>
            </a:r>
            <a:r>
              <a:rPr b="1" sz="2000"/>
              <a:t>Reporting &amp; Disclosure:</a:t>
            </a:r>
            <a:r>
              <a:rPr sz="2000"/>
              <a:t> Meeting diverse reporting requirements (GRI, SASB, TCFD) and demonstrating progress.</a:t>
            </a:r>
          </a:p>
          <a:p>
            <a:pPr/>
            <a:r>
              <a:rPr sz="2000"/>
              <a:t> </a:t>
            </a:r>
            <a:r>
              <a:rPr b="1" sz="2000"/>
              <a:t>Operational Integration:</a:t>
            </a:r>
            <a:r>
              <a:rPr sz="2000"/>
              <a:t> Embedding sustainability into core business processes (procurement, manufacturing, finance).</a:t>
            </a:r>
          </a:p>
          <a:p>
            <a:pPr/>
            <a:r>
              <a:rPr sz="2000"/>
              <a:t> </a:t>
            </a:r>
            <a:r>
              <a:rPr b="1" sz="2000"/>
              <a:t>Complexity &amp; Silos:</a:t>
            </a:r>
            <a:r>
              <a:rPr sz="2000"/>
              <a:t> Lack of a unified view and fragmented data leading to inefficiencies.</a:t>
            </a:r>
          </a:p>
          <a:p>
            <a:pPr/>
            <a:r>
              <a:rPr sz="2000"/>
              <a:t> </a:t>
            </a:r>
            <a:r>
              <a:rPr b="1" sz="2000"/>
              <a:t>Tracking &amp; Measuring Impact:</a:t>
            </a:r>
            <a:r>
              <a:rPr sz="2000"/>
              <a:t> Quantifying the business value and ROI of sustainability initiatives.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SAP's Vision for Sustainable Business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SAP empowers organizations to integrate sustainability into their core business strategy and operations.</a:t>
            </a:r>
          </a:p>
          <a:p>
            <a:pPr/>
            <a:r>
              <a:rPr sz="2000"/>
              <a:t>Leveraging its integrated suite, SAP provides solutions to manage ESG data, drive sustainable processes, and enable transparent reporting.</a:t>
            </a:r>
          </a:p>
          <a:p>
            <a:pPr/>
            <a:r>
              <a:rPr sz="2000"/>
              <a:t>The goal is to help companies become more resilient, responsible, and profitable.</a:t>
            </a:r>
          </a:p>
          <a:p>
            <a:pPr/>
            <a:r>
              <a:rPr sz="2000"/>
              <a:t>SAP itself is committed to running its business sustainably and helping customers achieve their goals.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Proposal: Leveraging SAP Sustainability Solutions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Objective:</a:t>
            </a:r>
            <a:r>
              <a:rPr sz="2000"/>
              <a:t> Establish a robust framework for tracking, managing, and reporting on ESG performance.</a:t>
            </a:r>
          </a:p>
          <a:p>
            <a:pPr/>
            <a:r>
              <a:rPr sz="2000"/>
              <a:t> </a:t>
            </a:r>
            <a:r>
              <a:rPr b="1" sz="2000"/>
              <a:t>Solution:</a:t>
            </a:r>
            <a:r>
              <a:rPr sz="2000"/>
              <a:t> Implement SAP's integrated sustainability solutions to capture data from source systems and provide actionable insights.</a:t>
            </a:r>
          </a:p>
          <a:p>
            <a:pPr/>
            <a:r>
              <a:rPr sz="2000"/>
              <a:t> </a:t>
            </a:r>
            <a:r>
              <a:rPr b="1" sz="2000"/>
              <a:t>Focus Areas:</a:t>
            </a:r>
          </a:p>
          <a:p>
            <a:pPr lvl="1"/>
            <a:r>
              <a:rPr sz="1800"/>
              <a:t> </a:t>
            </a:r>
            <a:r>
              <a:rPr b="1" sz="1800"/>
              <a:t>Measure &amp; Report:</a:t>
            </a:r>
            <a:r>
              <a:rPr sz="1800"/>
              <a:t> Gain visibility into carbon footprint, waste, energy consumption, and other ESG metrics.</a:t>
            </a:r>
          </a:p>
          <a:p>
            <a:pPr lvl="1"/>
            <a:r>
              <a:rPr sz="1800"/>
              <a:t> </a:t>
            </a:r>
            <a:r>
              <a:rPr b="1" sz="1800"/>
              <a:t>Manage &amp; Optimize:</a:t>
            </a:r>
            <a:r>
              <a:rPr sz="1800"/>
              <a:t> Integrate sustainability into planning and operations (e.g., procurement, product lifecycle).</a:t>
            </a:r>
          </a:p>
          <a:p>
            <a:pPr lvl="1"/>
            <a:r>
              <a:rPr sz="1800"/>
              <a:t> </a:t>
            </a:r>
            <a:r>
              <a:rPr b="1" sz="1800"/>
              <a:t>Engage &amp; Transact:</a:t>
            </a:r>
            <a:r>
              <a:rPr sz="1800"/>
              <a:t> Drive sustainable product innovation and circular economy initiatives.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SAP Sustainability Solutions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2000"/>
              <a:t>SAP Sustainability Control Tower:</a:t>
            </a:r>
            <a:r>
              <a:rPr sz="2000"/>
              <a:t> Provides a central hub for collecting, harmonizing, and reporting sustainability data.</a:t>
            </a:r>
          </a:p>
          <a:p>
            <a:pPr/>
            <a:r>
              <a:rPr b="1" sz="2000"/>
              <a:t>SAP Product Footprint Management:</a:t>
            </a:r>
            <a:r>
              <a:rPr sz="2000"/>
              <a:t> Calculates the environmental footprint of products across their lifecycle.</a:t>
            </a:r>
          </a:p>
          <a:p>
            <a:pPr/>
            <a:r>
              <a:rPr b="1" sz="2000"/>
              <a:t>SAP Environmental, Health, and Safety (EHS):</a:t>
            </a:r>
            <a:r>
              <a:rPr sz="2000"/>
              <a:t> Manages safety, compliance, and environmental aspects of operations.</a:t>
            </a:r>
          </a:p>
          <a:p>
            <a:pPr/>
            <a:r>
              <a:rPr b="1" sz="2000"/>
              <a:t>SAP Sustainable Logistics:</a:t>
            </a:r>
            <a:r>
              <a:rPr sz="2000"/>
              <a:t> Optimizes transportation and logistics for reduced emissions.</a:t>
            </a:r>
          </a:p>
          <a:p>
            <a:pPr/>
            <a:r>
              <a:rPr b="1" sz="2000"/>
              <a:t>Integration with SAP S/4HANA:</a:t>
            </a:r>
            <a:r>
              <a:rPr sz="2000"/>
              <a:t> Leverages operational data for sustainability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Benefits of an Integrated Sustainability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Enhanced Transparency &amp; Reporting:</a:t>
            </a:r>
            <a:r>
              <a:rPr sz="2000"/>
              <a:t> Meet regulatory demands and stakeholder expectations with reliable data.</a:t>
            </a:r>
          </a:p>
          <a:p>
            <a:pPr/>
            <a:r>
              <a:rPr sz="2000"/>
              <a:t> </a:t>
            </a:r>
            <a:r>
              <a:rPr b="1" sz="2000"/>
              <a:t>Improved Operational Efficiency:</a:t>
            </a:r>
            <a:r>
              <a:rPr sz="2000"/>
              <a:t> Reduce resource consumption (energy, water, waste) and associated costs.</a:t>
            </a:r>
          </a:p>
          <a:p>
            <a:pPr/>
            <a:r>
              <a:rPr sz="2000"/>
              <a:t> </a:t>
            </a:r>
            <a:r>
              <a:rPr b="1" sz="2000"/>
              <a:t>Risk Mitigation:</a:t>
            </a:r>
            <a:r>
              <a:rPr sz="2000"/>
              <a:t> Proactively manage environmental, social, and governance risks.</a:t>
            </a:r>
          </a:p>
          <a:p>
            <a:pPr/>
            <a:r>
              <a:rPr sz="2000"/>
              <a:t> </a:t>
            </a:r>
            <a:r>
              <a:rPr b="1" sz="2000"/>
              <a:t>Strengthened Brand Reputation:</a:t>
            </a:r>
            <a:r>
              <a:rPr sz="2000"/>
              <a:t> Demonstrate corporate responsibility and attract environmentally conscious customers and investors.</a:t>
            </a:r>
          </a:p>
          <a:p>
            <a:pPr/>
            <a:r>
              <a:rPr sz="2000"/>
              <a:t> </a:t>
            </a:r>
            <a:r>
              <a:rPr b="1" sz="2000"/>
              <a:t>Innovation &amp; New Business Models:</a:t>
            </a:r>
            <a:r>
              <a:rPr sz="2000"/>
              <a:t> Drive sustainable product development and circular economy initiatives.</a:t>
            </a:r>
          </a:p>
          <a:p>
            <a:pPr/>
            <a:r>
              <a:rPr sz="2000"/>
              <a:t> </a:t>
            </a:r>
            <a:r>
              <a:rPr b="1" sz="2000"/>
              <a:t>Attract &amp; Retain Talent:</a:t>
            </a:r>
            <a:r>
              <a:rPr sz="2000"/>
              <a:t> Align with the values of employees seeking purpose-driven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Implementation Roadmap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Define your organization's key sustainability goals and ESG priorities.</a:t>
            </a:r>
          </a:p>
          <a:p>
            <a:pPr/>
            <a:r>
              <a:rPr sz="2000"/>
              <a:t>Assess current data availability and identify gaps in ESG data collection.</a:t>
            </a:r>
          </a:p>
          <a:p>
            <a:pPr/>
            <a:r>
              <a:rPr sz="2000"/>
              <a:t>Prioritize SAP sustainability solutions based on your strategic objectives (e.g., carbon accounting, waste management).</a:t>
            </a:r>
          </a:p>
          <a:p>
            <a:pPr/>
            <a:r>
              <a:rPr sz="2000"/>
              <a:t>Develop a phased implementation plan, starting with data collection and foundational reporting.</a:t>
            </a:r>
          </a:p>
          <a:p>
            <a:pPr/>
            <a:r>
              <a:rPr sz="2000"/>
              <a:t>Engage with stakeholders across the organization to drive adoption and integration.</a:t>
            </a:r>
          </a:p>
          <a:p>
            <a:pPr/>
            <a:r>
              <a:rPr sz="2000"/>
              <a:t>Let's discuss how SAP can support your sustainability journey. What are your top ESG priorities for the next 1-3 years?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ShapesVTI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5</cp:revision>
  <dcterms:modified xsi:type="dcterms:W3CDTF">2023-08-21T21:53:30Z</dcterms:modified>
</cp:coreProperties>
</file>