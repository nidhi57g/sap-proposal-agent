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B8D830-F524-4FDD-A8FD-6AA3C0C92A4C}" v="1" dt="2023-08-21T20:32:13.980"/>
    <p1510:client id="{CEA0D785-2885-49B3-972D-6AB6BFA73821}" v="5" dt="2023-08-21T21:53:24.764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BF9"/>
          </a:solidFill>
        </a:fill>
      </a:tcStyle>
    </a:wholeTbl>
    <a:band2H>
      <a:tcTxStyle/>
      <a:tcStyle>
        <a:tcBdr/>
        <a:fill>
          <a:solidFill>
            <a:srgbClr val="E8EEFC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D5D1"/>
          </a:solidFill>
        </a:fill>
      </a:tcStyle>
    </a:wholeTbl>
    <a:band2H>
      <a:tcTxStyle/>
      <a:tcStyle>
        <a:tcBdr/>
        <a:fill>
          <a:solidFill>
            <a:srgbClr val="FCEBEA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CFD1"/>
          </a:solidFill>
        </a:fill>
      </a:tcStyle>
    </a:wholeTbl>
    <a:band2H>
      <a:tcTxStyle/>
      <a:tcStyle>
        <a:tcBdr/>
        <a:fill>
          <a:solidFill>
            <a:srgbClr val="E9E9E9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DCCA"/>
          </a:solidFill>
        </a:fill>
      </a:tcStyle>
    </a:wholeTbl>
    <a:band2H>
      <a:tcTxStyle/>
      <a:tcStyle>
        <a:tcBdr/>
        <a:fill>
          <a:solidFill>
            <a:srgbClr val="FFEEE7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car Annen" userId="d07a86dcd2295993" providerId="Windows Live" clId="Web-{CEA0D785-2885-49B3-972D-6AB6BFA73821}"/>
    <pc:docChg chg="addSld modSld">
      <pc:chgData name="Oscar Annen" userId="d07a86dcd2295993" providerId="Windows Live" clId="Web-{CEA0D785-2885-49B3-972D-6AB6BFA73821}" dt="2023-08-21T21:53:24.764" v="3" actId="20577"/>
      <pc:docMkLst>
        <pc:docMk/>
      </pc:docMkLst>
      <pc:sldChg chg="modSp new">
        <pc:chgData name="Oscar Annen" userId="d07a86dcd2295993" providerId="Windows Live" clId="Web-{CEA0D785-2885-49B3-972D-6AB6BFA73821}" dt="2023-08-21T21:53:24.764" v="3" actId="20577"/>
        <pc:sldMkLst>
          <pc:docMk/>
          <pc:sldMk cId="1478023678" sldId="256"/>
        </pc:sldMkLst>
        <pc:spChg chg="mod">
          <ac:chgData name="Oscar Annen" userId="d07a86dcd2295993" providerId="Windows Live" clId="Web-{CEA0D785-2885-49B3-972D-6AB6BFA73821}" dt="2023-08-21T21:53:20.701" v="2" actId="20577"/>
          <ac:spMkLst>
            <pc:docMk/>
            <pc:sldMk cId="1478023678" sldId="256"/>
            <ac:spMk id="2" creationId="{286A3ACB-9066-5FDD-4CA4-1454159AB51A}"/>
          </ac:spMkLst>
        </pc:spChg>
        <pc:spChg chg="mod">
          <ac:chgData name="Oscar Annen" userId="d07a86dcd2295993" providerId="Windows Live" clId="Web-{CEA0D785-2885-49B3-972D-6AB6BFA73821}" dt="2023-08-21T21:53:24.764" v="3" actId="20577"/>
          <ac:spMkLst>
            <pc:docMk/>
            <pc:sldMk cId="1478023678" sldId="256"/>
            <ac:spMk id="3" creationId="{9C5129A8-A038-DF75-63EE-0D12E6A5E3B6}"/>
          </ac:spMkLst>
        </pc:spChg>
      </pc:sldChg>
    </pc:docChg>
  </pc:docChgLst>
  <pc:docChgLst>
    <pc:chgData name="Oscar Annen" userId="d07a86dcd2295993" providerId="Windows Live" clId="Web-{85B8D830-F524-4FDD-A8FD-6AA3C0C92A4C}"/>
    <pc:docChg chg="delSld">
      <pc:chgData name="Oscar Annen" userId="d07a86dcd2295993" providerId="Windows Live" clId="Web-{85B8D830-F524-4FDD-A8FD-6AA3C0C92A4C}" dt="2023-08-21T20:32:13.980" v="0"/>
      <pc:docMkLst>
        <pc:docMk/>
      </pc:docMkLst>
      <pc:sldChg chg="del">
        <pc:chgData name="Oscar Annen" userId="d07a86dcd2295993" providerId="Windows Live" clId="Web-{85B8D830-F524-4FDD-A8FD-6AA3C0C92A4C}" dt="2023-08-21T20:32:13.980" v="0"/>
        <pc:sldMkLst>
          <pc:docMk/>
          <pc:sldMk cId="0" sldId="256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0" name="Shape 19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3"/>
          <p:cNvSpPr/>
          <p:nvPr/>
        </p:nvSpPr>
        <p:spPr>
          <a:xfrm>
            <a:off x="4000500" y="1087403"/>
            <a:ext cx="8191500" cy="57705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8" y="0"/>
                </a:moveTo>
                <a:cubicBezTo>
                  <a:pt x="16139" y="0"/>
                  <a:pt x="19020" y="1571"/>
                  <a:pt x="21267" y="4187"/>
                </a:cubicBezTo>
                <a:lnTo>
                  <a:pt x="21600" y="4594"/>
                </a:lnTo>
                <a:lnTo>
                  <a:pt x="21600" y="21600"/>
                </a:lnTo>
                <a:lnTo>
                  <a:pt x="210" y="21600"/>
                </a:lnTo>
                <a:lnTo>
                  <a:pt x="150" y="21127"/>
                </a:lnTo>
                <a:cubicBezTo>
                  <a:pt x="51" y="20216"/>
                  <a:pt x="0" y="19284"/>
                  <a:pt x="0" y="18335"/>
                </a:cubicBezTo>
                <a:cubicBezTo>
                  <a:pt x="0" y="8209"/>
                  <a:pt x="5820" y="0"/>
                  <a:pt x="12998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" name="Straight Connector 11"/>
          <p:cNvSpPr/>
          <p:nvPr/>
        </p:nvSpPr>
        <p:spPr>
          <a:xfrm flipH="1">
            <a:off x="406240" y="183933"/>
            <a:ext cx="1" cy="1597709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" name="Freeform: Shape 13"/>
          <p:cNvSpPr/>
          <p:nvPr/>
        </p:nvSpPr>
        <p:spPr>
          <a:xfrm>
            <a:off x="5292347" y="1"/>
            <a:ext cx="2279743" cy="12677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314" y="0"/>
                </a:lnTo>
                <a:lnTo>
                  <a:pt x="1314" y="18370"/>
                </a:lnTo>
                <a:lnTo>
                  <a:pt x="18975" y="0"/>
                </a:lnTo>
                <a:lnTo>
                  <a:pt x="21600" y="0"/>
                </a:lnTo>
                <a:lnTo>
                  <a:pt x="986" y="21442"/>
                </a:lnTo>
                <a:cubicBezTo>
                  <a:pt x="886" y="21545"/>
                  <a:pt x="772" y="21600"/>
                  <a:pt x="657" y="21600"/>
                </a:cubicBezTo>
                <a:cubicBezTo>
                  <a:pt x="294" y="21600"/>
                  <a:pt x="0" y="21071"/>
                  <a:pt x="0" y="20418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6" name="Freeform: Shape 15"/>
          <p:cNvSpPr/>
          <p:nvPr/>
        </p:nvSpPr>
        <p:spPr>
          <a:xfrm>
            <a:off x="10208694" y="1"/>
            <a:ext cx="1135067" cy="4779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568" y="760"/>
                </a:lnTo>
                <a:cubicBezTo>
                  <a:pt x="20543" y="12654"/>
                  <a:pt x="16111" y="21600"/>
                  <a:pt x="10800" y="21600"/>
                </a:cubicBezTo>
                <a:cubicBezTo>
                  <a:pt x="5489" y="21600"/>
                  <a:pt x="1057" y="12654"/>
                  <a:pt x="32" y="76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7" name="Oval 17"/>
          <p:cNvSpPr/>
          <p:nvPr/>
        </p:nvSpPr>
        <p:spPr>
          <a:xfrm>
            <a:off x="1569043" y="514897"/>
            <a:ext cx="2393353" cy="2328425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8" name="Freeform: Shape 19"/>
          <p:cNvSpPr/>
          <p:nvPr/>
        </p:nvSpPr>
        <p:spPr>
          <a:xfrm flipH="1">
            <a:off x="0" y="2949739"/>
            <a:ext cx="1186452" cy="1771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7" y="0"/>
                </a:moveTo>
                <a:lnTo>
                  <a:pt x="21600" y="0"/>
                </a:lnTo>
                <a:lnTo>
                  <a:pt x="21600" y="1510"/>
                </a:lnTo>
                <a:lnTo>
                  <a:pt x="2254" y="1510"/>
                </a:lnTo>
                <a:lnTo>
                  <a:pt x="2254" y="20090"/>
                </a:lnTo>
                <a:lnTo>
                  <a:pt x="21600" y="20090"/>
                </a:lnTo>
                <a:lnTo>
                  <a:pt x="21600" y="21600"/>
                </a:lnTo>
                <a:lnTo>
                  <a:pt x="1127" y="21600"/>
                </a:lnTo>
                <a:cubicBezTo>
                  <a:pt x="505" y="21600"/>
                  <a:pt x="0" y="21262"/>
                  <a:pt x="0" y="20845"/>
                </a:cubicBezTo>
                <a:lnTo>
                  <a:pt x="0" y="755"/>
                </a:lnTo>
                <a:cubicBezTo>
                  <a:pt x="0" y="338"/>
                  <a:pt x="505" y="0"/>
                  <a:pt x="1127" y="0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9" name="Arc 21"/>
          <p:cNvSpPr/>
          <p:nvPr/>
        </p:nvSpPr>
        <p:spPr>
          <a:xfrm rot="16200000">
            <a:off x="1539682" y="4203427"/>
            <a:ext cx="2041718" cy="20417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11929" y="0"/>
                  <a:pt x="21600" y="9671"/>
                  <a:pt x="21600" y="21600"/>
                </a:cubicBezTo>
              </a:path>
            </a:pathLst>
          </a:custGeom>
          <a:ln w="127000" cap="rnd">
            <a:solidFill>
              <a:schemeClr val="accent4"/>
            </a:solidFill>
            <a:prstDash val="dash"/>
            <a:miter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xfrm>
            <a:off x="5093208" y="2743200"/>
            <a:ext cx="6592825" cy="2386584"/>
          </a:xfrm>
          <a:prstGeom prst="rect">
            <a:avLst/>
          </a:prstGeom>
        </p:spPr>
        <p:txBody>
          <a:bodyPr anchor="b"/>
          <a:lstStyle>
            <a:lvl1pPr algn="r">
              <a:defRPr sz="600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5093208" y="5221223"/>
            <a:ext cx="6592825" cy="996697"/>
          </a:xfrm>
          <a:prstGeom prst="rect">
            <a:avLst/>
          </a:prstGeom>
        </p:spPr>
        <p:txBody>
          <a:bodyPr/>
          <a:lstStyle>
            <a:lvl1pPr marL="0" indent="0" algn="r">
              <a:buSzTx/>
              <a:buFontTx/>
              <a:buNone/>
              <a:defRPr sz="2400">
                <a:solidFill>
                  <a:srgbClr val="FFFFFF"/>
                </a:solidFill>
              </a:defRPr>
            </a:lvl1pPr>
            <a:lvl2pPr marL="0" indent="457200" algn="r">
              <a:buSzTx/>
              <a:buFontTx/>
              <a:buNone/>
              <a:defRPr sz="2400">
                <a:solidFill>
                  <a:srgbClr val="FFFFFF"/>
                </a:solidFill>
              </a:defRPr>
            </a:lvl2pPr>
            <a:lvl3pPr marL="0" indent="914400" algn="r">
              <a:buSzTx/>
              <a:buFontTx/>
              <a:buNone/>
              <a:defRPr sz="2400">
                <a:solidFill>
                  <a:srgbClr val="FFFFFF"/>
                </a:solidFill>
              </a:defRPr>
            </a:lvl3pPr>
            <a:lvl4pPr marL="0" indent="1371600" algn="r">
              <a:buSzTx/>
              <a:buFontTx/>
              <a:buNone/>
              <a:defRPr sz="2400">
                <a:solidFill>
                  <a:srgbClr val="FFFFFF"/>
                </a:solidFill>
              </a:defRPr>
            </a:lvl4pPr>
            <a:lvl5pPr marL="0" indent="1828800" algn="r">
              <a:buSzTx/>
              <a:buFontTx/>
              <a:buNone/>
              <a:defRPr sz="24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val 9"/>
          <p:cNvSpPr/>
          <p:nvPr/>
        </p:nvSpPr>
        <p:spPr>
          <a:xfrm>
            <a:off x="489188" y="1119030"/>
            <a:ext cx="4619940" cy="461994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30" name="Arc 11"/>
          <p:cNvSpPr/>
          <p:nvPr/>
        </p:nvSpPr>
        <p:spPr>
          <a:xfrm rot="19809111">
            <a:off x="9735982" y="660555"/>
            <a:ext cx="1659892" cy="22340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69" h="20833" extrusionOk="0">
                <a:moveTo>
                  <a:pt x="0" y="88"/>
                </a:moveTo>
                <a:lnTo>
                  <a:pt x="0" y="88"/>
                </a:lnTo>
                <a:cubicBezTo>
                  <a:pt x="10507" y="-767"/>
                  <a:pt x="19976" y="4739"/>
                  <a:pt x="21150" y="12385"/>
                </a:cubicBezTo>
                <a:cubicBezTo>
                  <a:pt x="21600" y="15315"/>
                  <a:pt x="20762" y="18272"/>
                  <a:pt x="18756" y="20833"/>
                </a:cubicBezTo>
              </a:path>
            </a:pathLst>
          </a:custGeom>
          <a:ln w="127000" cap="rnd">
            <a:solidFill>
              <a:schemeClr val="accent4"/>
            </a:solidFill>
            <a:prstDash val="dash"/>
            <a:miter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31" name="Oval 13"/>
          <p:cNvSpPr/>
          <p:nvPr/>
        </p:nvSpPr>
        <p:spPr>
          <a:xfrm>
            <a:off x="910048" y="4780991"/>
            <a:ext cx="546101" cy="546101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32" name="Title Text"/>
          <p:cNvSpPr txBox="1">
            <a:spLocks noGrp="1"/>
          </p:cNvSpPr>
          <p:nvPr>
            <p:ph type="title"/>
          </p:nvPr>
        </p:nvSpPr>
        <p:spPr>
          <a:xfrm>
            <a:off x="1170432" y="1399032"/>
            <a:ext cx="3236977" cy="406908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3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788152" y="1527047"/>
            <a:ext cx="5111497" cy="3931922"/>
          </a:xfrm>
          <a:prstGeom prst="rect">
            <a:avLst/>
          </a:prstGeom>
        </p:spPr>
        <p:txBody>
          <a:bodyPr anchor="ctr"/>
          <a:lstStyle>
            <a:lvl1pPr marL="0" indent="0">
              <a:buSzTx/>
              <a:buFontTx/>
              <a:buNone/>
            </a:lvl1pPr>
            <a:lvl2pPr marL="266700">
              <a:buFontTx/>
            </a:lvl2pPr>
            <a:lvl3pPr marL="548639">
              <a:buFontTx/>
            </a:lvl3pPr>
            <a:lvl4pPr marL="0" indent="1371600">
              <a:buSzTx/>
              <a:buFontTx/>
              <a:buNone/>
            </a:lvl4pPr>
            <a:lvl5pPr>
              <a:buFontTx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 2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21"/>
          <p:cNvSpPr>
            <a:spLocks noGrp="1"/>
          </p:cNvSpPr>
          <p:nvPr>
            <p:ph type="pic" sz="quarter" idx="21"/>
          </p:nvPr>
        </p:nvSpPr>
        <p:spPr>
          <a:xfrm>
            <a:off x="7200479" y="1150210"/>
            <a:ext cx="2207046" cy="220417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2" name="Picture Placeholder 20"/>
          <p:cNvSpPr>
            <a:spLocks noGrp="1"/>
          </p:cNvSpPr>
          <p:nvPr>
            <p:ph type="pic" sz="quarter" idx="22"/>
          </p:nvPr>
        </p:nvSpPr>
        <p:spPr>
          <a:xfrm>
            <a:off x="8444631" y="2579683"/>
            <a:ext cx="3096808" cy="309680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3" name="Title Text"/>
          <p:cNvSpPr txBox="1">
            <a:spLocks noGrp="1"/>
          </p:cNvSpPr>
          <p:nvPr>
            <p:ph type="title"/>
          </p:nvPr>
        </p:nvSpPr>
        <p:spPr>
          <a:xfrm>
            <a:off x="539495" y="365124"/>
            <a:ext cx="5806442" cy="132588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39495" y="1825625"/>
            <a:ext cx="5806442" cy="435254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0000"/>
              </a:lnSpc>
              <a:buSzTx/>
              <a:buFontTx/>
              <a:buNone/>
              <a:defRPr sz="2400"/>
            </a:lvl1pPr>
            <a:lvl2pPr marL="274319" indent="-274319">
              <a:lnSpc>
                <a:spcPct val="110000"/>
              </a:lnSpc>
              <a:buFontTx/>
              <a:defRPr sz="2400"/>
            </a:lvl2pPr>
            <a:lvl3pPr marL="533400" indent="-304800">
              <a:lnSpc>
                <a:spcPct val="110000"/>
              </a:lnSpc>
              <a:buFontTx/>
              <a:defRPr sz="2400"/>
            </a:lvl3pPr>
            <a:lvl4pPr marL="800100" indent="-342900">
              <a:lnSpc>
                <a:spcPct val="110000"/>
              </a:lnSpc>
              <a:buFontTx/>
              <a:defRPr sz="2400"/>
            </a:lvl4pPr>
            <a:lvl5pPr marL="2133600" indent="-304800">
              <a:lnSpc>
                <a:spcPct val="110000"/>
              </a:lnSpc>
              <a:buFontTx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6" name="Oval 9"/>
          <p:cNvSpPr/>
          <p:nvPr/>
        </p:nvSpPr>
        <p:spPr>
          <a:xfrm>
            <a:off x="10249620" y="1555067"/>
            <a:ext cx="819305" cy="797079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47" name="Rectangle 11"/>
          <p:cNvSpPr/>
          <p:nvPr/>
        </p:nvSpPr>
        <p:spPr>
          <a:xfrm>
            <a:off x="7590088" y="4034392"/>
            <a:ext cx="876705" cy="876705"/>
          </a:xfrm>
          <a:prstGeom prst="rect">
            <a:avLst/>
          </a:prstGeom>
          <a:ln w="127000">
            <a:solidFill>
              <a:schemeClr val="accent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Oval 6"/>
          <p:cNvSpPr/>
          <p:nvPr/>
        </p:nvSpPr>
        <p:spPr>
          <a:xfrm>
            <a:off x="2815928" y="148928"/>
            <a:ext cx="6560144" cy="6560144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5" name="Arc 7"/>
          <p:cNvSpPr/>
          <p:nvPr/>
        </p:nvSpPr>
        <p:spPr>
          <a:xfrm rot="9222429" flipV="1">
            <a:off x="1900746" y="906095"/>
            <a:ext cx="3085935" cy="19616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9254" y="0"/>
                  <a:pt x="17672" y="8419"/>
                  <a:pt x="21600" y="21600"/>
                </a:cubicBezTo>
              </a:path>
            </a:pathLst>
          </a:custGeom>
          <a:ln w="127000" cap="rnd">
            <a:solidFill>
              <a:schemeClr val="accent4">
                <a:alpha val="95000"/>
              </a:schemeClr>
            </a:solidFill>
            <a:prstDash val="dash"/>
            <a:miter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6" name="Oval 13"/>
          <p:cNvSpPr/>
          <p:nvPr/>
        </p:nvSpPr>
        <p:spPr>
          <a:xfrm>
            <a:off x="8165417" y="5241988"/>
            <a:ext cx="759405" cy="738803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xfrm>
            <a:off x="3319271" y="1380744"/>
            <a:ext cx="5559553" cy="2514601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5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319271" y="4078223"/>
            <a:ext cx="5559553" cy="153619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1pPr>
            <a:lvl2pPr marL="0" indent="4572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2pPr>
            <a:lvl3pPr marL="0" indent="9144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3pPr>
            <a:lvl4pPr marL="0" indent="13716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4pPr>
            <a:lvl5pPr marL="0" indent="18288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xfrm>
            <a:off x="539495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idx="1"/>
          </p:nvPr>
        </p:nvSpPr>
        <p:spPr>
          <a:xfrm>
            <a:off x="1179575" y="1911095"/>
            <a:ext cx="9829801" cy="385974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9" name="Freeform: Shape 6"/>
          <p:cNvSpPr/>
          <p:nvPr/>
        </p:nvSpPr>
        <p:spPr>
          <a:xfrm>
            <a:off x="10494433" y="2"/>
            <a:ext cx="849329" cy="3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568" y="760"/>
                </a:lnTo>
                <a:cubicBezTo>
                  <a:pt x="20543" y="12654"/>
                  <a:pt x="16111" y="21600"/>
                  <a:pt x="10800" y="21600"/>
                </a:cubicBezTo>
                <a:cubicBezTo>
                  <a:pt x="5489" y="21600"/>
                  <a:pt x="1057" y="12654"/>
                  <a:pt x="32" y="76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70" name="Freeform: Shape 7"/>
          <p:cNvSpPr/>
          <p:nvPr/>
        </p:nvSpPr>
        <p:spPr>
          <a:xfrm flipH="1">
            <a:off x="123535" y="5717904"/>
            <a:ext cx="1771611" cy="11400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4" h="21593" extrusionOk="0">
                <a:moveTo>
                  <a:pt x="18992" y="14452"/>
                </a:moveTo>
                <a:cubicBezTo>
                  <a:pt x="19281" y="14400"/>
                  <a:pt x="19575" y="14607"/>
                  <a:pt x="19737" y="15016"/>
                </a:cubicBezTo>
                <a:cubicBezTo>
                  <a:pt x="20142" y="16100"/>
                  <a:pt x="20502" y="17222"/>
                  <a:pt x="20816" y="18374"/>
                </a:cubicBezTo>
                <a:lnTo>
                  <a:pt x="21544" y="21593"/>
                </a:lnTo>
                <a:lnTo>
                  <a:pt x="19910" y="21593"/>
                </a:lnTo>
                <a:lnTo>
                  <a:pt x="19394" y="19313"/>
                </a:lnTo>
                <a:cubicBezTo>
                  <a:pt x="19105" y="18253"/>
                  <a:pt x="18774" y="17221"/>
                  <a:pt x="18402" y="16224"/>
                </a:cubicBezTo>
                <a:cubicBezTo>
                  <a:pt x="18197" y="15641"/>
                  <a:pt x="18335" y="14910"/>
                  <a:pt x="18709" y="14591"/>
                </a:cubicBezTo>
                <a:cubicBezTo>
                  <a:pt x="18799" y="14515"/>
                  <a:pt x="18895" y="14469"/>
                  <a:pt x="18992" y="14452"/>
                </a:cubicBezTo>
                <a:close/>
                <a:moveTo>
                  <a:pt x="11351" y="3055"/>
                </a:moveTo>
                <a:cubicBezTo>
                  <a:pt x="11452" y="3065"/>
                  <a:pt x="11552" y="3107"/>
                  <a:pt x="11647" y="3181"/>
                </a:cubicBezTo>
                <a:cubicBezTo>
                  <a:pt x="13087" y="4305"/>
                  <a:pt x="14432" y="5702"/>
                  <a:pt x="15651" y="7341"/>
                </a:cubicBezTo>
                <a:cubicBezTo>
                  <a:pt x="15974" y="7774"/>
                  <a:pt x="16010" y="8532"/>
                  <a:pt x="15733" y="9036"/>
                </a:cubicBezTo>
                <a:cubicBezTo>
                  <a:pt x="15586" y="9302"/>
                  <a:pt x="15371" y="9455"/>
                  <a:pt x="15146" y="9454"/>
                </a:cubicBezTo>
                <a:lnTo>
                  <a:pt x="15142" y="9454"/>
                </a:lnTo>
                <a:cubicBezTo>
                  <a:pt x="14957" y="9457"/>
                  <a:pt x="14778" y="9355"/>
                  <a:pt x="14637" y="9169"/>
                </a:cubicBezTo>
                <a:cubicBezTo>
                  <a:pt x="13515" y="7657"/>
                  <a:pt x="12278" y="6368"/>
                  <a:pt x="10952" y="5332"/>
                </a:cubicBezTo>
                <a:cubicBezTo>
                  <a:pt x="10571" y="5033"/>
                  <a:pt x="10418" y="4309"/>
                  <a:pt x="10610" y="3715"/>
                </a:cubicBezTo>
                <a:cubicBezTo>
                  <a:pt x="10753" y="3270"/>
                  <a:pt x="11051" y="3024"/>
                  <a:pt x="11351" y="3055"/>
                </a:cubicBezTo>
                <a:close/>
                <a:moveTo>
                  <a:pt x="3116" y="1"/>
                </a:moveTo>
                <a:cubicBezTo>
                  <a:pt x="3920" y="8"/>
                  <a:pt x="4723" y="93"/>
                  <a:pt x="5521" y="255"/>
                </a:cubicBezTo>
                <a:cubicBezTo>
                  <a:pt x="5944" y="336"/>
                  <a:pt x="6245" y="936"/>
                  <a:pt x="6193" y="1594"/>
                </a:cubicBezTo>
                <a:cubicBezTo>
                  <a:pt x="6145" y="2200"/>
                  <a:pt x="5813" y="2653"/>
                  <a:pt x="5421" y="2649"/>
                </a:cubicBezTo>
                <a:cubicBezTo>
                  <a:pt x="5387" y="2650"/>
                  <a:pt x="5353" y="2647"/>
                  <a:pt x="5320" y="2640"/>
                </a:cubicBezTo>
                <a:cubicBezTo>
                  <a:pt x="3850" y="2341"/>
                  <a:pt x="2362" y="2327"/>
                  <a:pt x="890" y="2599"/>
                </a:cubicBezTo>
                <a:cubicBezTo>
                  <a:pt x="468" y="2700"/>
                  <a:pt x="74" y="2249"/>
                  <a:pt x="9" y="1592"/>
                </a:cubicBezTo>
                <a:cubicBezTo>
                  <a:pt x="-56" y="936"/>
                  <a:pt x="233" y="321"/>
                  <a:pt x="655" y="220"/>
                </a:cubicBezTo>
                <a:cubicBezTo>
                  <a:pt x="673" y="216"/>
                  <a:pt x="691" y="212"/>
                  <a:pt x="709" y="210"/>
                </a:cubicBezTo>
                <a:cubicBezTo>
                  <a:pt x="1509" y="63"/>
                  <a:pt x="2313" y="-7"/>
                  <a:pt x="3116" y="1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79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911095"/>
            <a:ext cx="10515600" cy="385974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Quote slide with pictur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icture Placeholder 5"/>
          <p:cNvSpPr>
            <a:spLocks noGrp="1"/>
          </p:cNvSpPr>
          <p:nvPr>
            <p:ph type="pic" idx="21"/>
          </p:nvPr>
        </p:nvSpPr>
        <p:spPr>
          <a:xfrm>
            <a:off x="0" y="1"/>
            <a:ext cx="12192000" cy="6858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7" name="Title Text"/>
          <p:cNvSpPr txBox="1">
            <a:spLocks noGrp="1"/>
          </p:cNvSpPr>
          <p:nvPr>
            <p:ph type="title"/>
          </p:nvPr>
        </p:nvSpPr>
        <p:spPr>
          <a:xfrm>
            <a:off x="3111500" y="370600"/>
            <a:ext cx="5923842" cy="5923842"/>
          </a:xfrm>
          <a:prstGeom prst="rect">
            <a:avLst/>
          </a:prstGeom>
          <a:solidFill>
            <a:srgbClr val="FFFFFF">
              <a:alpha val="95000"/>
            </a:srgbClr>
          </a:solidFill>
        </p:spPr>
        <p:txBody>
          <a:bodyPr anchor="b"/>
          <a:lstStyle>
            <a:lvl1pPr algn="ctr">
              <a:defRPr sz="4000"/>
            </a:lvl1pPr>
          </a:lstStyle>
          <a:p>
            <a:r>
              <a:t>Title Text</a:t>
            </a:r>
          </a:p>
        </p:txBody>
      </p:sp>
      <p:sp>
        <p:nvSpPr>
          <p:cNvPr id="8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575303" y="4379976"/>
            <a:ext cx="5038345" cy="71323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7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3291842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7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453128" y="1681163"/>
            <a:ext cx="3291841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1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19" name="Text Placeholder 4"/>
          <p:cNvSpPr>
            <a:spLocks noGrp="1"/>
          </p:cNvSpPr>
          <p:nvPr>
            <p:ph type="body" sz="quarter" idx="22"/>
          </p:nvPr>
        </p:nvSpPr>
        <p:spPr>
          <a:xfrm>
            <a:off x="8065007" y="1681163"/>
            <a:ext cx="3291841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 with 2 medium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icture Placeholder 19"/>
          <p:cNvSpPr>
            <a:spLocks noGrp="1"/>
          </p:cNvSpPr>
          <p:nvPr>
            <p:ph type="pic" sz="half" idx="21"/>
          </p:nvPr>
        </p:nvSpPr>
        <p:spPr>
          <a:xfrm>
            <a:off x="7901258" y="2727729"/>
            <a:ext cx="4290741" cy="41302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27" name="Picture Placeholder 20"/>
          <p:cNvSpPr>
            <a:spLocks noGrp="1"/>
          </p:cNvSpPr>
          <p:nvPr>
            <p:ph type="pic" sz="quarter" idx="22"/>
          </p:nvPr>
        </p:nvSpPr>
        <p:spPr>
          <a:xfrm>
            <a:off x="6261608" y="-1"/>
            <a:ext cx="3519313" cy="300791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28" name="Oval 9"/>
          <p:cNvSpPr/>
          <p:nvPr/>
        </p:nvSpPr>
        <p:spPr>
          <a:xfrm>
            <a:off x="10420569" y="1364732"/>
            <a:ext cx="947489" cy="921786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29" name="Arc 11"/>
          <p:cNvSpPr/>
          <p:nvPr/>
        </p:nvSpPr>
        <p:spPr>
          <a:xfrm rot="4759070" flipV="1">
            <a:off x="5896042" y="1918749"/>
            <a:ext cx="1820521" cy="11572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9254" y="0"/>
                  <a:pt x="17673" y="8419"/>
                  <a:pt x="21600" y="21600"/>
                </a:cubicBezTo>
              </a:path>
            </a:pathLst>
          </a:custGeom>
          <a:ln w="127000" cap="rnd">
            <a:solidFill>
              <a:schemeClr val="accent4"/>
            </a:solidFill>
            <a:prstDash val="dash"/>
            <a:miter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30" name="Title Text"/>
          <p:cNvSpPr txBox="1">
            <a:spLocks noGrp="1"/>
          </p:cNvSpPr>
          <p:nvPr>
            <p:ph type="title"/>
          </p:nvPr>
        </p:nvSpPr>
        <p:spPr>
          <a:xfrm>
            <a:off x="841247" y="365759"/>
            <a:ext cx="5120642" cy="1325882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3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41247" y="1828800"/>
            <a:ext cx="5093210" cy="4352545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/>
            </a:lvl1pPr>
            <a:lvl2pPr marL="228600" indent="-228600">
              <a:buFontTx/>
              <a:defRPr sz="2400"/>
            </a:lvl2pPr>
            <a:lvl3pPr marL="502919" indent="-274319">
              <a:buFontTx/>
              <a:defRPr sz="2400"/>
            </a:lvl3pPr>
            <a:lvl4pPr marL="762000" indent="-304800">
              <a:buFontTx/>
              <a:defRPr sz="2400"/>
            </a:lvl4pPr>
            <a:lvl5pPr marL="2133600" indent="-304800">
              <a:buFontTx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Oval 9"/>
          <p:cNvSpPr/>
          <p:nvPr/>
        </p:nvSpPr>
        <p:spPr>
          <a:xfrm>
            <a:off x="707392" y="847599"/>
            <a:ext cx="4619940" cy="461994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0" name="Freeform: Shape 11"/>
          <p:cNvSpPr/>
          <p:nvPr/>
        </p:nvSpPr>
        <p:spPr>
          <a:xfrm flipH="1">
            <a:off x="530529" y="-1"/>
            <a:ext cx="1155142" cy="5910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5" y="0"/>
                </a:moveTo>
                <a:lnTo>
                  <a:pt x="21575" y="0"/>
                </a:lnTo>
                <a:lnTo>
                  <a:pt x="21600" y="491"/>
                </a:lnTo>
                <a:cubicBezTo>
                  <a:pt x="21600" y="12149"/>
                  <a:pt x="16765" y="21600"/>
                  <a:pt x="10800" y="21600"/>
                </a:cubicBezTo>
                <a:cubicBezTo>
                  <a:pt x="4835" y="21600"/>
                  <a:pt x="0" y="12149"/>
                  <a:pt x="0" y="491"/>
                </a:cubicBez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1" name="Freeform: Shape 13"/>
          <p:cNvSpPr/>
          <p:nvPr/>
        </p:nvSpPr>
        <p:spPr>
          <a:xfrm flipH="1">
            <a:off x="3961510" y="-1"/>
            <a:ext cx="1737402" cy="9595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539" y="0"/>
                </a:lnTo>
                <a:lnTo>
                  <a:pt x="1539" y="17790"/>
                </a:lnTo>
                <a:lnTo>
                  <a:pt x="18525" y="0"/>
                </a:lnTo>
                <a:lnTo>
                  <a:pt x="21600" y="0"/>
                </a:lnTo>
                <a:lnTo>
                  <a:pt x="1155" y="21413"/>
                </a:lnTo>
                <a:cubicBezTo>
                  <a:pt x="1038" y="21536"/>
                  <a:pt x="905" y="21600"/>
                  <a:pt x="770" y="21600"/>
                </a:cubicBezTo>
                <a:cubicBezTo>
                  <a:pt x="345" y="21600"/>
                  <a:pt x="0" y="20976"/>
                  <a:pt x="0" y="20206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2" name="Freeform: Shape 15"/>
          <p:cNvSpPr/>
          <p:nvPr/>
        </p:nvSpPr>
        <p:spPr>
          <a:xfrm flipH="1">
            <a:off x="0" y="2936831"/>
            <a:ext cx="159742" cy="5529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21600" y="21600"/>
                </a:lnTo>
                <a:lnTo>
                  <a:pt x="19181" y="21221"/>
                </a:lnTo>
                <a:cubicBezTo>
                  <a:pt x="7608" y="18962"/>
                  <a:pt x="0" y="15138"/>
                  <a:pt x="0" y="10800"/>
                </a:cubicBezTo>
                <a:cubicBezTo>
                  <a:pt x="0" y="6462"/>
                  <a:pt x="7608" y="2638"/>
                  <a:pt x="19181" y="379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3" name="Freeform: Shape 17"/>
          <p:cNvSpPr/>
          <p:nvPr/>
        </p:nvSpPr>
        <p:spPr>
          <a:xfrm flipH="1">
            <a:off x="0" y="5835648"/>
            <a:ext cx="1548181" cy="1022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64" y="0"/>
                </a:moveTo>
                <a:lnTo>
                  <a:pt x="21600" y="0"/>
                </a:lnTo>
                <a:lnTo>
                  <a:pt x="21600" y="2616"/>
                </a:lnTo>
                <a:lnTo>
                  <a:pt x="1728" y="2616"/>
                </a:lnTo>
                <a:lnTo>
                  <a:pt x="1728" y="21600"/>
                </a:lnTo>
                <a:lnTo>
                  <a:pt x="0" y="21600"/>
                </a:lnTo>
                <a:lnTo>
                  <a:pt x="0" y="1308"/>
                </a:lnTo>
                <a:cubicBezTo>
                  <a:pt x="0" y="586"/>
                  <a:pt x="387" y="0"/>
                  <a:pt x="864" y="0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4" name="Freeform: Shape 19"/>
          <p:cNvSpPr/>
          <p:nvPr/>
        </p:nvSpPr>
        <p:spPr>
          <a:xfrm flipH="1">
            <a:off x="3405056" y="5717904"/>
            <a:ext cx="1771610" cy="11400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4" h="21593" extrusionOk="0">
                <a:moveTo>
                  <a:pt x="18992" y="14452"/>
                </a:moveTo>
                <a:cubicBezTo>
                  <a:pt x="19281" y="14400"/>
                  <a:pt x="19575" y="14607"/>
                  <a:pt x="19737" y="15016"/>
                </a:cubicBezTo>
                <a:cubicBezTo>
                  <a:pt x="20142" y="16100"/>
                  <a:pt x="20502" y="17222"/>
                  <a:pt x="20816" y="18374"/>
                </a:cubicBezTo>
                <a:lnTo>
                  <a:pt x="21544" y="21593"/>
                </a:lnTo>
                <a:lnTo>
                  <a:pt x="19910" y="21593"/>
                </a:lnTo>
                <a:lnTo>
                  <a:pt x="19394" y="19313"/>
                </a:lnTo>
                <a:cubicBezTo>
                  <a:pt x="19105" y="18253"/>
                  <a:pt x="18774" y="17221"/>
                  <a:pt x="18402" y="16224"/>
                </a:cubicBezTo>
                <a:cubicBezTo>
                  <a:pt x="18197" y="15641"/>
                  <a:pt x="18335" y="14910"/>
                  <a:pt x="18709" y="14591"/>
                </a:cubicBezTo>
                <a:cubicBezTo>
                  <a:pt x="18799" y="14515"/>
                  <a:pt x="18895" y="14469"/>
                  <a:pt x="18992" y="14452"/>
                </a:cubicBezTo>
                <a:close/>
                <a:moveTo>
                  <a:pt x="11351" y="3055"/>
                </a:moveTo>
                <a:cubicBezTo>
                  <a:pt x="11452" y="3065"/>
                  <a:pt x="11552" y="3107"/>
                  <a:pt x="11647" y="3181"/>
                </a:cubicBezTo>
                <a:cubicBezTo>
                  <a:pt x="13087" y="4305"/>
                  <a:pt x="14432" y="5702"/>
                  <a:pt x="15651" y="7341"/>
                </a:cubicBezTo>
                <a:cubicBezTo>
                  <a:pt x="15974" y="7774"/>
                  <a:pt x="16010" y="8532"/>
                  <a:pt x="15733" y="9036"/>
                </a:cubicBezTo>
                <a:cubicBezTo>
                  <a:pt x="15586" y="9302"/>
                  <a:pt x="15371" y="9455"/>
                  <a:pt x="15146" y="9454"/>
                </a:cubicBezTo>
                <a:lnTo>
                  <a:pt x="15142" y="9454"/>
                </a:lnTo>
                <a:cubicBezTo>
                  <a:pt x="14957" y="9457"/>
                  <a:pt x="14778" y="9355"/>
                  <a:pt x="14637" y="9169"/>
                </a:cubicBezTo>
                <a:cubicBezTo>
                  <a:pt x="13515" y="7657"/>
                  <a:pt x="12278" y="6368"/>
                  <a:pt x="10952" y="5332"/>
                </a:cubicBezTo>
                <a:cubicBezTo>
                  <a:pt x="10571" y="5033"/>
                  <a:pt x="10418" y="4309"/>
                  <a:pt x="10610" y="3715"/>
                </a:cubicBezTo>
                <a:cubicBezTo>
                  <a:pt x="10753" y="3270"/>
                  <a:pt x="11051" y="3024"/>
                  <a:pt x="11351" y="3055"/>
                </a:cubicBezTo>
                <a:close/>
                <a:moveTo>
                  <a:pt x="3116" y="1"/>
                </a:moveTo>
                <a:cubicBezTo>
                  <a:pt x="3920" y="8"/>
                  <a:pt x="4723" y="93"/>
                  <a:pt x="5521" y="255"/>
                </a:cubicBezTo>
                <a:cubicBezTo>
                  <a:pt x="5944" y="336"/>
                  <a:pt x="6245" y="936"/>
                  <a:pt x="6193" y="1594"/>
                </a:cubicBezTo>
                <a:cubicBezTo>
                  <a:pt x="6145" y="2200"/>
                  <a:pt x="5813" y="2653"/>
                  <a:pt x="5421" y="2649"/>
                </a:cubicBezTo>
                <a:cubicBezTo>
                  <a:pt x="5387" y="2650"/>
                  <a:pt x="5353" y="2647"/>
                  <a:pt x="5320" y="2640"/>
                </a:cubicBezTo>
                <a:cubicBezTo>
                  <a:pt x="3850" y="2341"/>
                  <a:pt x="2362" y="2327"/>
                  <a:pt x="890" y="2599"/>
                </a:cubicBezTo>
                <a:cubicBezTo>
                  <a:pt x="468" y="2700"/>
                  <a:pt x="74" y="2249"/>
                  <a:pt x="9" y="1592"/>
                </a:cubicBezTo>
                <a:cubicBezTo>
                  <a:pt x="-56" y="936"/>
                  <a:pt x="233" y="321"/>
                  <a:pt x="655" y="220"/>
                </a:cubicBezTo>
                <a:cubicBezTo>
                  <a:pt x="673" y="216"/>
                  <a:pt x="691" y="212"/>
                  <a:pt x="709" y="210"/>
                </a:cubicBezTo>
                <a:cubicBezTo>
                  <a:pt x="1509" y="63"/>
                  <a:pt x="2313" y="-7"/>
                  <a:pt x="3116" y="1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5" name="Freeform: Shape 21"/>
          <p:cNvSpPr/>
          <p:nvPr/>
        </p:nvSpPr>
        <p:spPr>
          <a:xfrm flipH="1">
            <a:off x="4132972" y="6258755"/>
            <a:ext cx="1565941" cy="5992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5420" y="0"/>
                  <a:pt x="19384" y="7141"/>
                  <a:pt x="21077" y="17319"/>
                </a:cubicBezTo>
                <a:lnTo>
                  <a:pt x="21600" y="21600"/>
                </a:lnTo>
                <a:lnTo>
                  <a:pt x="0" y="21600"/>
                </a:lnTo>
                <a:lnTo>
                  <a:pt x="523" y="17319"/>
                </a:lnTo>
                <a:cubicBezTo>
                  <a:pt x="2216" y="7141"/>
                  <a:pt x="6180" y="0"/>
                  <a:pt x="10800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6" name="Title Text"/>
          <p:cNvSpPr txBox="1">
            <a:spLocks noGrp="1"/>
          </p:cNvSpPr>
          <p:nvPr>
            <p:ph type="title"/>
          </p:nvPr>
        </p:nvSpPr>
        <p:spPr>
          <a:xfrm>
            <a:off x="1389888" y="1234439"/>
            <a:ext cx="3236977" cy="4069081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83193" y="6404292"/>
            <a:ext cx="273656" cy="2692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665976" y="2551176"/>
            <a:ext cx="4709160" cy="175564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/>
            </a:lvl1pPr>
            <a:lvl2pPr marL="304800" indent="-304800">
              <a:buFontTx/>
              <a:defRPr sz="2400"/>
            </a:lvl2pPr>
            <a:lvl3pPr marL="533400" indent="-304800">
              <a:buFontTx/>
              <a:defRPr sz="2400"/>
            </a:lvl3pPr>
            <a:lvl4pPr marL="1676400" indent="-304800">
              <a:buFontTx/>
              <a:defRPr sz="2400"/>
            </a:lvl4pPr>
            <a:lvl5pPr marL="2133600" indent="-304800">
              <a:buFontTx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63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71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2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17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81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8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" name="Freeform: Shape 4"/>
          <p:cNvSpPr/>
          <p:nvPr/>
        </p:nvSpPr>
        <p:spPr>
          <a:xfrm rot="16200000">
            <a:off x="-388933" y="4841194"/>
            <a:ext cx="1737401" cy="9595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539" y="0"/>
                </a:lnTo>
                <a:lnTo>
                  <a:pt x="1539" y="17790"/>
                </a:lnTo>
                <a:lnTo>
                  <a:pt x="18525" y="0"/>
                </a:lnTo>
                <a:lnTo>
                  <a:pt x="21600" y="0"/>
                </a:lnTo>
                <a:lnTo>
                  <a:pt x="1155" y="21413"/>
                </a:lnTo>
                <a:cubicBezTo>
                  <a:pt x="1038" y="21536"/>
                  <a:pt x="905" y="21600"/>
                  <a:pt x="770" y="21600"/>
                </a:cubicBezTo>
                <a:cubicBezTo>
                  <a:pt x="345" y="21600"/>
                  <a:pt x="0" y="20976"/>
                  <a:pt x="0" y="20206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4" name="Freeform: Shape 5"/>
          <p:cNvSpPr/>
          <p:nvPr/>
        </p:nvSpPr>
        <p:spPr>
          <a:xfrm>
            <a:off x="10494433" y="2"/>
            <a:ext cx="849329" cy="3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568" y="760"/>
                </a:lnTo>
                <a:cubicBezTo>
                  <a:pt x="20543" y="12654"/>
                  <a:pt x="16111" y="21600"/>
                  <a:pt x="10800" y="21600"/>
                </a:cubicBezTo>
                <a:cubicBezTo>
                  <a:pt x="5489" y="21600"/>
                  <a:pt x="1057" y="12654"/>
                  <a:pt x="32" y="76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" name="Title Text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6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Optimizing Supply Chains with SAP IBP &amp; EWM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Presentation 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half"/>
          </p:nvPr>
        </p:nvSpPr>
        <p:spPr/>
        <p:txBody>
          <a:bodyPr/>
          <a:lstStyle/>
          <a:p>
            <a:pPr/>
            <a:r>
              <a:rPr sz="2000"/>
              <a:t>The Modern Supply Chain Imperative</a:t>
            </a:r>
          </a:p>
          <a:p>
            <a:pPr/>
            <a:r>
              <a:rPr sz="2000"/>
              <a:t>Challenges in Today's Supply Chains</a:t>
            </a:r>
          </a:p>
          <a:p>
            <a:pPr/>
            <a:r>
              <a:rPr sz="2000"/>
              <a:t>Introducing SAP's Supply Chain Management Solutions</a:t>
            </a:r>
          </a:p>
          <a:p>
            <a:pPr/>
            <a:r>
              <a:rPr sz="2000"/>
              <a:t>Proposal 1: Strategic Planning with SAP Integrated Business Planning (IBP)</a:t>
            </a:r>
          </a:p>
          <a:p>
            <a:pPr/>
            <a:r>
              <a:rPr sz="2000"/>
              <a:t>Proposal 2: Optimizing Warehouse Operations with SAP Extended Warehouse Management (EWM)</a:t>
            </a:r>
          </a:p>
          <a:p>
            <a:pPr/>
            <a:r>
              <a:rPr sz="2000"/>
              <a:t>The Power of Integration: IBP &amp; EWM Synergy</a:t>
            </a:r>
          </a:p>
          <a:p>
            <a:pPr/>
            <a:r>
              <a:rPr sz="2000"/>
              <a:t>Key Benefits of an Optimized SAP SCM Solution</a:t>
            </a:r>
          </a:p>
          <a:p>
            <a:pPr/>
            <a:r>
              <a:rPr sz="2000"/>
              <a:t>Implementation Roadmap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The Modern Supply Chain Imperative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Globalized markets require seamless coordination across extended networks.</a:t>
            </a:r>
          </a:p>
          <a:p>
            <a:pPr/>
            <a:r>
              <a:rPr sz="2000"/>
              <a:t>Customer expectations for faster delivery, real-time tracking, and product availability are increasing.</a:t>
            </a:r>
          </a:p>
          <a:p>
            <a:pPr/>
            <a:r>
              <a:rPr sz="2000"/>
              <a:t>Disruptions (geopolitical, economic, natural) necessitate resilience and agility.</a:t>
            </a:r>
          </a:p>
          <a:p>
            <a:pPr/>
            <a:r>
              <a:rPr sz="2000"/>
              <a:t>The goal: transform the supply chain from a cost center to a competitive differentiator.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Challenges in Today's Supply Chains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 </a:t>
            </a:r>
            <a:r>
              <a:rPr b="1" sz="2000"/>
              <a:t>Lack of Visibility:</a:t>
            </a:r>
            <a:r>
              <a:rPr sz="2000"/>
              <a:t> Limited end-to-end view of inventory, demand, and supply.</a:t>
            </a:r>
          </a:p>
          <a:p>
            <a:pPr/>
            <a:r>
              <a:rPr sz="2000"/>
              <a:t> </a:t>
            </a:r>
            <a:r>
              <a:rPr b="1" sz="2000"/>
              <a:t>Inaccurate Forecasting:</a:t>
            </a:r>
            <a:r>
              <a:rPr sz="2000"/>
              <a:t> Leading to stockouts or excess inventory.</a:t>
            </a:r>
          </a:p>
          <a:p>
            <a:pPr/>
            <a:r>
              <a:rPr sz="2000"/>
              <a:t> </a:t>
            </a:r>
            <a:r>
              <a:rPr b="1" sz="2000"/>
              <a:t>Inefficient Warehouse Operations:</a:t>
            </a:r>
            <a:r>
              <a:rPr sz="2000"/>
              <a:t> Poor space utilization, slow picking/packing, high labor costs.</a:t>
            </a:r>
          </a:p>
          <a:p>
            <a:pPr/>
            <a:r>
              <a:rPr sz="2000"/>
              <a:t> </a:t>
            </a:r>
            <a:r>
              <a:rPr b="1" sz="2000"/>
              <a:t>Siloed Planning:</a:t>
            </a:r>
            <a:r>
              <a:rPr sz="2000"/>
              <a:t> Disconnect between strategic planning and operational execution.</a:t>
            </a:r>
          </a:p>
          <a:p>
            <a:pPr/>
            <a:r>
              <a:rPr sz="2000"/>
              <a:t> </a:t>
            </a:r>
            <a:r>
              <a:rPr b="1" sz="2000"/>
              <a:t>Reactive vs. Proactive:</a:t>
            </a:r>
            <a:r>
              <a:rPr sz="2000"/>
              <a:t> Struggling to anticipate and respond to changes effectively.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Introducing SAP's Supply Chain Management Solutions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SAP offers a robust set of integrated solutions to manage planning, execution, and logistics.</a:t>
            </a:r>
          </a:p>
          <a:p>
            <a:pPr/>
            <a:r>
              <a:rPr sz="2000"/>
              <a:t>These solutions enable companies to create intelligent, connected, and sustainable supply chains.</a:t>
            </a:r>
          </a:p>
          <a:p>
            <a:pPr/>
            <a:r>
              <a:rPr sz="2000"/>
              <a:t>Key focus areas for this proposal: Integrated Business Planning (IBP) and Extended Warehouse Management (EWM).</a:t>
            </a:r>
          </a:p>
          <a:p>
            <a:pPr/>
            <a:r>
              <a:rPr sz="2000"/>
              <a:t>Designed to integrate with SAP S/4HANA and other core enterprise systems.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Proposal 1: Strategic Planning with SAP Integrated Business Planning (IBP)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Problem: Disconnected planning processes, unreliable forecasts, and inability to balance demand and supply.</a:t>
            </a:r>
          </a:p>
          <a:p>
            <a:pPr/>
            <a:r>
              <a:rPr sz="2000"/>
              <a:t>Solution: Implement SAP Integrated Business Planning (IBP) for unified, cloud-based planning across Sales &amp; Operations Planning (S&amp;OP), Demand Planning, Supply Planning, and Response &amp; Supply.</a:t>
            </a:r>
          </a:p>
          <a:p>
            <a:pPr/>
            <a:r>
              <a:rPr sz="2000"/>
              <a:t>Benefits: Improved forecast accuracy, optimized inventory levels, enhanced service levels, and better alignment with financial goals.</a:t>
            </a:r>
          </a:p>
          <a:p>
            <a:pPr/>
            <a:r>
              <a:rPr sz="2000"/>
              <a:t>Key Features: Collaborative platform, advanced algorithms, real-time data integration, scenario modeling.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Proposal 2: Optimizing Warehouse Operations with SAP Extended Warehouse Management (EWM)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Challenge: Inefficient warehouse layouts, manual tracking, and slow fulfillment processes leading to errors and high costs.</a:t>
            </a:r>
          </a:p>
          <a:p>
            <a:pPr/>
            <a:r>
              <a:rPr sz="2000"/>
              <a:t>Solution: Deploy SAP Extended Warehouse Management (EWM) to manage warehouse operations from goods receipt to goods issue with advanced functionalities.</a:t>
            </a:r>
          </a:p>
          <a:p>
            <a:pPr/>
            <a:r>
              <a:rPr sz="2000"/>
              <a:t>Benefits: Increased warehouse throughput, reduced operational costs, improved inventory accuracy, optimized space utilization, and enhanced labor productivity.</a:t>
            </a:r>
          </a:p>
          <a:p>
            <a:pPr/>
            <a:r>
              <a:rPr sz="2000"/>
              <a:t>Key Features: Inbound/outbound processing, internal movements, yard management, labor management, integration with automation.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The Power of Integration: IBP &amp; EWM Synergy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 </a:t>
            </a:r>
            <a:r>
              <a:rPr b="1" sz="2000"/>
              <a:t>Seamless Data Flow:</a:t>
            </a:r>
            <a:r>
              <a:rPr sz="2000"/>
              <a:t> IBP's optimized plans (e.g., planned orders, stock transfer orders) flow directly into EWM for execution.</a:t>
            </a:r>
          </a:p>
          <a:p>
            <a:pPr/>
            <a:r>
              <a:rPr sz="2000"/>
              <a:t> </a:t>
            </a:r>
            <a:r>
              <a:rPr b="1" sz="2000"/>
              <a:t>Real-time Visibility:</a:t>
            </a:r>
            <a:r>
              <a:rPr sz="2000"/>
              <a:t> EWM provides actual execution data back to IBP, enabling real-time adjustments and updated forecasts.</a:t>
            </a:r>
          </a:p>
          <a:p>
            <a:pPr/>
            <a:r>
              <a:rPr sz="2000"/>
              <a:t> </a:t>
            </a:r>
            <a:r>
              <a:rPr b="1" sz="2000"/>
              <a:t>Improved Responsiveness:</a:t>
            </a:r>
            <a:r>
              <a:rPr sz="2000"/>
              <a:t> Quick reaction to demand fluctuations or supply disruptions by adjusting both planning and execution.</a:t>
            </a:r>
          </a:p>
          <a:p>
            <a:pPr/>
            <a:r>
              <a:rPr sz="2000"/>
              <a:t> </a:t>
            </a:r>
            <a:r>
              <a:rPr b="1" sz="2000"/>
              <a:t>Reduced Bullwhip Effect:</a:t>
            </a:r>
            <a:r>
              <a:rPr sz="2000"/>
              <a:t> Consistent information across planning and execution minimizes inventory volatility.</a:t>
            </a:r>
          </a:p>
          <a:p>
            <a:pPr/>
            <a:r>
              <a:rPr sz="2000"/>
              <a:t> </a:t>
            </a:r>
            <a:r>
              <a:rPr b="1" sz="2000"/>
              <a:t>Optimized Inventory:</a:t>
            </a:r>
            <a:r>
              <a:rPr sz="2000"/>
              <a:t> Planning accuracy from IBP leads to better inventory decisions in the warehouse managed by EWM.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Key Benefits of an Optimized SAP SCM Solution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 </a:t>
            </a:r>
            <a:r>
              <a:rPr b="1" sz="2000"/>
              <a:t>Enhanced Agility &amp; Responsiveness:</a:t>
            </a:r>
            <a:r>
              <a:rPr sz="2000"/>
              <a:t> Adapt quickly to market changes and disruptions.</a:t>
            </a:r>
          </a:p>
          <a:p>
            <a:pPr/>
            <a:r>
              <a:rPr sz="2000"/>
              <a:t> </a:t>
            </a:r>
            <a:r>
              <a:rPr b="1" sz="2000"/>
              <a:t>Improved Efficiency &amp; Cost Reduction:</a:t>
            </a:r>
            <a:r>
              <a:rPr sz="2000"/>
              <a:t> Optimize inventory, reduce waste, and streamline operations.</a:t>
            </a:r>
          </a:p>
          <a:p>
            <a:pPr/>
            <a:r>
              <a:rPr sz="2000"/>
              <a:t> </a:t>
            </a:r>
            <a:r>
              <a:rPr b="1" sz="2000"/>
              <a:t>Increased Customer Satisfaction:</a:t>
            </a:r>
            <a:r>
              <a:rPr sz="2000"/>
              <a:t> Ensure product availability and timely deliveries.</a:t>
            </a:r>
          </a:p>
          <a:p>
            <a:pPr/>
            <a:r>
              <a:rPr sz="2000"/>
              <a:t> </a:t>
            </a:r>
            <a:r>
              <a:rPr b="1" sz="2000"/>
              <a:t>Better Decision-Making:</a:t>
            </a:r>
            <a:r>
              <a:rPr sz="2000"/>
              <a:t> Data-driven insights from integrated planning and execution.</a:t>
            </a:r>
          </a:p>
          <a:p>
            <a:pPr/>
            <a:r>
              <a:rPr sz="2000"/>
              <a:t> </a:t>
            </a:r>
            <a:r>
              <a:rPr b="1" sz="2000"/>
              <a:t>Greater Resilience:</a:t>
            </a:r>
            <a:r>
              <a:rPr sz="2000"/>
              <a:t> Build robust supply chains that can withstand volatility.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Implementation Roadmap &amp; 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Conduct a comprehensive assessment of your current supply chain processes and technology landscape.</a:t>
            </a:r>
          </a:p>
          <a:p>
            <a:pPr/>
            <a:r>
              <a:rPr sz="2000"/>
              <a:t>Define strategic objectives for supply chain improvement (e.g., inventory reduction, service level increase).</a:t>
            </a:r>
          </a:p>
          <a:p>
            <a:pPr/>
            <a:r>
              <a:rPr sz="2000"/>
              <a:t>Prioritize implementation of SAP IBP for planning and SAP EWM for execution, or focus on enhancing existing components.</a:t>
            </a:r>
          </a:p>
          <a:p>
            <a:pPr/>
            <a:r>
              <a:rPr sz="2000"/>
              <a:t>Develop a phased roadmap, focusing on quick wins and building foundational capabilities.</a:t>
            </a:r>
          </a:p>
          <a:p>
            <a:pPr/>
            <a:r>
              <a:rPr sz="2000"/>
              <a:t>Let's discuss how we can tailor this supply chain optimization strategy to your unique business needs. What are your biggest supply chain pain points today?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ShapesVTI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0000FF"/>
      </a:hlink>
      <a:folHlink>
        <a:srgbClr val="FF00FF"/>
      </a:folHlink>
    </a:clrScheme>
    <a:fontScheme name="ShapesVTI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ShapesVTI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LT Pro"/>
            <a:ea typeface="Avenir Next LT Pro"/>
            <a:cs typeface="Avenir Next LT Pro"/>
            <a:sym typeface="Avenir Next L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LT Pro"/>
            <a:ea typeface="Avenir Next LT Pro"/>
            <a:cs typeface="Avenir Next LT Pro"/>
            <a:sym typeface="Avenir Next L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ShapesVTI">
  <a:themeElements>
    <a:clrScheme name="ShapesVTI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0000FF"/>
      </a:hlink>
      <a:folHlink>
        <a:srgbClr val="FF00FF"/>
      </a:folHlink>
    </a:clrScheme>
    <a:fontScheme name="ShapesVTI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ShapesVTI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LT Pro"/>
            <a:ea typeface="Avenir Next LT Pro"/>
            <a:cs typeface="Avenir Next LT Pro"/>
            <a:sym typeface="Avenir Next L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LT Pro"/>
            <a:ea typeface="Avenir Next LT Pro"/>
            <a:cs typeface="Avenir Next LT Pro"/>
            <a:sym typeface="Avenir Next L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ShapesVTI</vt:lpstr>
      <vt:lpstr>Hello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revision>5</cp:revision>
  <dcterms:modified xsi:type="dcterms:W3CDTF">2023-08-21T21:53:30Z</dcterms:modified>
</cp:coreProperties>
</file>