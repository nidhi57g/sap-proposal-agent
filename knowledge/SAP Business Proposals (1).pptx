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SAP S/4HANA Cloud Migration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Evolving Business Landscape &amp; ERP Imperative</a:t>
            </a:r>
          </a:p>
          <a:p>
            <a:pPr/>
            <a:r>
              <a:rPr sz="2000"/>
              <a:t>Understanding SAP S/4HANA Cloud</a:t>
            </a:r>
          </a:p>
          <a:p>
            <a:pPr/>
            <a:r>
              <a:rPr sz="2000"/>
              <a:t>Key Business Benefits</a:t>
            </a:r>
          </a:p>
          <a:p>
            <a:pPr/>
            <a:r>
              <a:rPr sz="2000"/>
              <a:t>The Urgency: Why Migrate Now?</a:t>
            </a:r>
          </a:p>
          <a:p>
            <a:pPr/>
            <a:r>
              <a:rPr sz="2000"/>
              <a:t>Migration Approaches: Greenfield vs. Brownfield vs. Bluefield</a:t>
            </a:r>
          </a:p>
          <a:p>
            <a:pPr/>
            <a:r>
              <a:rPr sz="2000"/>
              <a:t>The SAP Activate Methodology</a:t>
            </a:r>
          </a:p>
          <a:p>
            <a:pPr/>
            <a:r>
              <a:rPr sz="2000"/>
              <a:t>Key Implementation Considerations</a:t>
            </a:r>
          </a:p>
          <a:p>
            <a:pPr/>
            <a:r>
              <a:rPr sz="2000"/>
              <a:t>Case Study Snapshot</a:t>
            </a:r>
          </a:p>
          <a:p>
            <a:pPr/>
            <a:r>
              <a:rPr sz="2000"/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Evolving Business Landscape &amp; ERP Imperative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Rapid market changes demand agility and real-time decision-making.</a:t>
            </a:r>
          </a:p>
          <a:p>
            <a:pPr/>
            <a:r>
              <a:rPr sz="2000"/>
              <a:t>Customers expect personalized experiences and seamless interactions.</a:t>
            </a:r>
          </a:p>
          <a:p>
            <a:pPr/>
            <a:r>
              <a:rPr sz="2000"/>
              <a:t>Digital transformation is no longer optional; it's critical for survival.</a:t>
            </a:r>
          </a:p>
          <a:p>
            <a:pPr/>
            <a:r>
              <a:rPr sz="2000"/>
              <a:t>Legacy ERP systems (like SAP ECC) hinder innovation with their rigid structures and slow processing.</a:t>
            </a:r>
          </a:p>
          <a:p>
            <a:pPr/>
            <a:r>
              <a:rPr sz="2000"/>
              <a:t>SAP's strategic direction is clearly towards cloud-based, intelligent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Understanding SAP S/4HANA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The next-generation ERP suite, built on the SAP HANA in-memory database.</a:t>
            </a:r>
          </a:p>
          <a:p>
            <a:pPr/>
            <a:r>
              <a:rPr sz="2000"/>
              <a:t>Offers a simplified data model and real-time processing capabilities.</a:t>
            </a:r>
          </a:p>
          <a:p>
            <a:pPr/>
            <a:r>
              <a:rPr sz="2000"/>
              <a:t>Embedded intelligence with AI, Machine Learning, and IoT capabilities.</a:t>
            </a:r>
          </a:p>
          <a:p>
            <a:pPr/>
            <a:r>
              <a:rPr sz="2000"/>
              <a:t>Delivered as a multi-tenant cloud solution, providing continuous innovation and updates.</a:t>
            </a:r>
          </a:p>
          <a:p>
            <a:pPr lvl="1"/>
            <a:r>
              <a:rPr sz="1800"/>
              <a:t>Key characteristics: Simplicity, Real-time, Intelligence, Extensibility.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Business Benefits of S/4HANA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Enhanced Operational Efficiency:</a:t>
            </a:r>
            <a:r>
              <a:rPr sz="2000"/>
              <a:t> Streamlined business processes, automated tasks, and faster transaction cycles.</a:t>
            </a:r>
          </a:p>
          <a:p>
            <a:pPr/>
            <a:r>
              <a:rPr sz="2000"/>
              <a:t> </a:t>
            </a:r>
            <a:r>
              <a:rPr b="1" sz="2000"/>
              <a:t>Real-time Insights &amp; Decision-Making:</a:t>
            </a:r>
            <a:r>
              <a:rPr sz="2000"/>
              <a:t> Immediate access to live data across the enterprise for informed strategic choices.</a:t>
            </a:r>
          </a:p>
          <a:p>
            <a:pPr/>
            <a:r>
              <a:rPr sz="2000"/>
              <a:t> </a:t>
            </a:r>
            <a:r>
              <a:rPr b="1" sz="2000"/>
              <a:t>Increased Agility &amp; Adaptability:</a:t>
            </a:r>
            <a:r>
              <a:rPr sz="2000"/>
              <a:t> Quickly respond to market shifts, adopt new business models, and scale operations.</a:t>
            </a:r>
          </a:p>
          <a:p>
            <a:pPr/>
            <a:r>
              <a:rPr sz="2000"/>
              <a:t> </a:t>
            </a:r>
            <a:r>
              <a:rPr b="1" sz="2000"/>
              <a:t>Innovation Acceleration:</a:t>
            </a:r>
            <a:r>
              <a:rPr sz="2000"/>
              <a:t> A platform for integrating new technologies, digital solutions, and advanced analytics.</a:t>
            </a:r>
          </a:p>
          <a:p>
            <a:pPr/>
            <a:r>
              <a:rPr sz="2000"/>
              <a:t> </a:t>
            </a:r>
            <a:r>
              <a:rPr b="1" sz="2000"/>
              <a:t>Reduced Total Cost of Ownership (TCO):</a:t>
            </a:r>
            <a:r>
              <a:rPr sz="2000"/>
              <a:t> Lower infrastructure costs, simplified maintenance, and predictable upgrade cycles.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Urgency: Why Migrate Now?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SAP ECC End-of-Maintenance:</a:t>
            </a:r>
            <a:r>
              <a:rPr sz="2000"/>
              <a:t> SAP ECC mainstream maintenance ends in 2027 (with extended options until 2030), posing significant risk.</a:t>
            </a:r>
          </a:p>
          <a:p>
            <a:pPr/>
            <a:r>
              <a:rPr sz="2000"/>
              <a:t> </a:t>
            </a:r>
            <a:r>
              <a:rPr b="1" sz="2000"/>
              <a:t>Competitive Advantage:</a:t>
            </a:r>
            <a:r>
              <a:rPr sz="2000"/>
              <a:t> Peers adopting modern ERPs are gaining agility and efficiency.</a:t>
            </a:r>
          </a:p>
          <a:p>
            <a:pPr/>
            <a:r>
              <a:rPr sz="2000"/>
              <a:t> </a:t>
            </a:r>
            <a:r>
              <a:rPr b="1" sz="2000"/>
              <a:t>Missed Innovation Opportunities:</a:t>
            </a:r>
            <a:r>
              <a:rPr sz="2000"/>
              <a:t> Stagnation on legacy systems limits access to AI, IoT, and advanced analytics.</a:t>
            </a:r>
          </a:p>
          <a:p>
            <a:pPr/>
            <a:r>
              <a:rPr sz="2000"/>
              <a:t> </a:t>
            </a:r>
            <a:r>
              <a:rPr b="1" sz="2000"/>
              <a:t>Technical Debt:</a:t>
            </a:r>
            <a:r>
              <a:rPr sz="2000"/>
              <a:t> Maintaining outdated systems becomes increasingly costly and complex.</a:t>
            </a:r>
          </a:p>
          <a:p>
            <a:pPr/>
            <a:r>
              <a:rPr sz="2000"/>
              <a:t> </a:t>
            </a:r>
            <a:r>
              <a:rPr b="1" sz="2000"/>
              <a:t>Security Risks:</a:t>
            </a:r>
            <a:r>
              <a:rPr sz="2000"/>
              <a:t> Older systems may have unpatched vulnerabilities.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Migration Approaches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Greenfield (New Implementation):</a:t>
            </a:r>
          </a:p>
          <a:p>
            <a:pPr lvl="1"/>
            <a:r>
              <a:rPr sz="1800"/>
              <a:t>Start fresh with a standard SAP S/4HANA Cloud solution.</a:t>
            </a:r>
          </a:p>
          <a:p>
            <a:pPr lvl="1"/>
            <a:r>
              <a:rPr sz="1800"/>
              <a:t>Ideal for businesses looking to standardize processes, adopt best practices, and reimagine their operations.</a:t>
            </a:r>
          </a:p>
          <a:p>
            <a:pPr/>
            <a:r>
              <a:rPr sz="2000"/>
              <a:t> </a:t>
            </a:r>
            <a:r>
              <a:rPr b="1" sz="2000"/>
              <a:t>Brownfield (System Conversion):</a:t>
            </a:r>
          </a:p>
          <a:p>
            <a:pPr lvl="1"/>
            <a:r>
              <a:rPr sz="1800"/>
              <a:t>Convert your existing SAP ECC system to SAP S/4HANA.</a:t>
            </a:r>
          </a:p>
          <a:p>
            <a:pPr lvl="1"/>
            <a:r>
              <a:rPr sz="1800"/>
              <a:t>Preserves existing configurations and historical data, often faster but with potential limitations.</a:t>
            </a:r>
          </a:p>
          <a:p>
            <a:pPr/>
            <a:r>
              <a:rPr sz="2000"/>
              <a:t> </a:t>
            </a:r>
            <a:r>
              <a:rPr b="1" sz="2000"/>
              <a:t>Bluefield (Selective Data Transition):</a:t>
            </a:r>
          </a:p>
          <a:p>
            <a:pPr lvl="1"/>
            <a:r>
              <a:rPr sz="1800"/>
              <a:t>Combines elements of both Greenfield and Brownfield.</a:t>
            </a:r>
          </a:p>
          <a:p>
            <a:pPr lvl="1"/>
            <a:r>
              <a:rPr sz="1800"/>
              <a:t>Allows for selective data migration and system optimization, offering flexibility for complex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SAP Activate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A best practice-driven, agile approach for SAP S/4HANA implementations.</a:t>
            </a:r>
          </a:p>
          <a:p>
            <a:pPr/>
            <a:r>
              <a:rPr sz="2000"/>
              <a:t>Combines SAP Best Practices content, guided configuration tools, and agile project management.</a:t>
            </a:r>
          </a:p>
          <a:p>
            <a:pPr/>
            <a:r>
              <a:rPr sz="2000"/>
              <a:t>Phases:</a:t>
            </a:r>
          </a:p>
          <a:p>
            <a:pPr lvl="1"/>
            <a:r>
              <a:rPr sz="1800"/>
              <a:t>Discover: Define strategy and scope.</a:t>
            </a:r>
          </a:p>
          <a:p>
            <a:pPr lvl="1"/>
            <a:r>
              <a:rPr sz="1800"/>
              <a:t>Prepare: Project setup and initial planning.</a:t>
            </a:r>
          </a:p>
          <a:p>
            <a:pPr lvl="1"/>
            <a:r>
              <a:rPr sz="1800"/>
              <a:t>Explore: Business process design and Fit-to-Standard analysis.</a:t>
            </a:r>
          </a:p>
          <a:p>
            <a:pPr lvl="1"/>
            <a:r>
              <a:rPr sz="1800"/>
              <a:t>Realize: System build and testing.</a:t>
            </a:r>
          </a:p>
          <a:p>
            <a:pPr lvl="1"/>
            <a:r>
              <a:rPr sz="1800"/>
              <a:t>Deploy: Final preparation and go-live.</a:t>
            </a:r>
          </a:p>
          <a:p>
            <a:pPr lvl="1"/>
            <a:r>
              <a:rPr sz="1800"/>
              <a:t>Run: Post-go-live support and continuous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Implementation Considerations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Data Cleansing &amp; Migration:</a:t>
            </a:r>
            <a:r>
              <a:rPr sz="2000"/>
              <a:t> Crucial for a clean system; requires significant effort.</a:t>
            </a:r>
          </a:p>
          <a:p>
            <a:pPr/>
            <a:r>
              <a:rPr sz="2000"/>
              <a:t> </a:t>
            </a:r>
            <a:r>
              <a:rPr b="1" sz="2000"/>
              <a:t>Change Management:</a:t>
            </a:r>
            <a:r>
              <a:rPr sz="2000"/>
              <a:t> Proactive communication and training for user adoption.</a:t>
            </a:r>
          </a:p>
          <a:p>
            <a:pPr/>
            <a:r>
              <a:rPr sz="2000"/>
              <a:t> </a:t>
            </a:r>
            <a:r>
              <a:rPr b="1" sz="2000"/>
              <a:t>Integration Strategy:</a:t>
            </a:r>
            <a:r>
              <a:rPr sz="2000"/>
              <a:t> Seamless connectivity with other SAP and non-SAP systems.</a:t>
            </a:r>
          </a:p>
          <a:p>
            <a:pPr/>
            <a:r>
              <a:rPr sz="2000"/>
              <a:t> </a:t>
            </a:r>
            <a:r>
              <a:rPr b="1" sz="2000"/>
              <a:t>Customization vs. Standardization:</a:t>
            </a:r>
            <a:r>
              <a:rPr sz="2000"/>
              <a:t> Balancing business needs with adopting standard best practices.</a:t>
            </a:r>
          </a:p>
          <a:p>
            <a:pPr/>
            <a:r>
              <a:rPr sz="2000"/>
              <a:t> </a:t>
            </a:r>
            <a:r>
              <a:rPr b="1" sz="2000"/>
              <a:t>Skills &amp; Resources:</a:t>
            </a:r>
            <a:r>
              <a:rPr sz="2000"/>
              <a:t> Ensuring the availability of skilled personnel (internal and external).</a:t>
            </a:r>
          </a:p>
          <a:p>
            <a:pPr/>
            <a:r>
              <a:rPr sz="2000"/>
              <a:t> </a:t>
            </a:r>
            <a:r>
              <a:rPr b="1" sz="2000"/>
              <a:t>Testing:</a:t>
            </a:r>
            <a:r>
              <a:rPr sz="2000"/>
              <a:t> Comprehensive testing strategy across all business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Case Study Snapshot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Client:</a:t>
            </a:r>
            <a:r>
              <a:rPr sz="2000"/>
              <a:t> Global Manufacturing Company</a:t>
            </a:r>
          </a:p>
          <a:p>
            <a:pPr/>
            <a:r>
              <a:rPr sz="2000"/>
              <a:t> </a:t>
            </a:r>
            <a:r>
              <a:rPr b="1" sz="2000"/>
              <a:t>Challenge:</a:t>
            </a:r>
            <a:r>
              <a:rPr sz="2000"/>
              <a:t> Outdated ERP, slow reporting, inability to gain real-time inventory insights.</a:t>
            </a:r>
          </a:p>
          <a:p>
            <a:pPr/>
            <a:r>
              <a:rPr sz="2000"/>
              <a:t> </a:t>
            </a:r>
            <a:r>
              <a:rPr b="1" sz="2000"/>
              <a:t>Solution:</a:t>
            </a:r>
            <a:r>
              <a:rPr sz="2000"/>
              <a:t> Greenfield SAP S/4HANA Cloud implementation using SAP Activate.</a:t>
            </a:r>
          </a:p>
          <a:p>
            <a:pPr/>
            <a:r>
              <a:rPr sz="2000"/>
              <a:t> </a:t>
            </a:r>
            <a:r>
              <a:rPr b="1" sz="2000"/>
              <a:t>Results:</a:t>
            </a:r>
          </a:p>
          <a:p>
            <a:pPr lvl="1"/>
            <a:r>
              <a:rPr sz="1800"/>
              <a:t> </a:t>
            </a:r>
            <a:r>
              <a:rPr b="1" sz="1800"/>
              <a:t>20% improvement in operational efficiency.</a:t>
            </a:r>
          </a:p>
          <a:p>
            <a:pPr lvl="1"/>
            <a:r>
              <a:rPr sz="1800"/>
              <a:t> </a:t>
            </a:r>
            <a:r>
              <a:rPr b="1" sz="1800"/>
              <a:t>30% reduction in month-end closing time.</a:t>
            </a:r>
          </a:p>
          <a:p>
            <a:pPr lvl="1"/>
            <a:r>
              <a:rPr sz="1800"/>
              <a:t> </a:t>
            </a:r>
            <a:r>
              <a:rPr b="1" sz="1800"/>
              <a:t>Real-time visibility into supply chain and inventory.</a:t>
            </a:r>
          </a:p>
          <a:p>
            <a:pPr lvl="1"/>
            <a:r>
              <a:rPr sz="1800"/>
              <a:t> </a:t>
            </a:r>
            <a:r>
              <a:rPr b="1" sz="1800"/>
              <a:t>Improved agility for new product launches.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Conduct a feasibility study and assess current ERP landscape.</a:t>
            </a:r>
          </a:p>
          <a:p>
            <a:pPr/>
            <a:r>
              <a:rPr sz="2000"/>
              <a:t>Define strategic objectives and key pain points to address.</a:t>
            </a:r>
          </a:p>
          <a:p>
            <a:pPr/>
            <a:r>
              <a:rPr sz="2000"/>
              <a:t>Identify the most suitable migration approach (Greenfield, Brownfield, Bluefield).</a:t>
            </a:r>
          </a:p>
          <a:p>
            <a:pPr/>
            <a:r>
              <a:rPr sz="2000"/>
              <a:t>Engage with SAP and implementation partners to develop a detailed roadmap.</a:t>
            </a:r>
          </a:p>
          <a:p>
            <a:pPr/>
            <a:r>
              <a:rPr sz="2000"/>
              <a:t>Let's schedule a follow-up to discuss how we can tailor this journey for your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