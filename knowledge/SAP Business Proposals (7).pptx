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Achieving Master Data Excellence with SAP MDG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Critical Importance of Master Data</a:t>
            </a:r>
          </a:p>
          <a:p>
            <a:pPr/>
            <a:r>
              <a:rPr sz="2000"/>
              <a:t>Challenges of Inconsistent Master Data</a:t>
            </a:r>
          </a:p>
          <a:p>
            <a:pPr/>
            <a:r>
              <a:rPr sz="2000"/>
              <a:t>Introducing SAP Master Data Governance (MDG)</a:t>
            </a:r>
          </a:p>
          <a:p>
            <a:pPr/>
            <a:r>
              <a:rPr sz="2000"/>
              <a:t>Key Capabilities and Components of SAP MDG</a:t>
            </a:r>
          </a:p>
          <a:p>
            <a:pPr/>
            <a:r>
              <a:rPr sz="2000"/>
              <a:t>Proposal: Implementing SAP MDG for Key Domains</a:t>
            </a:r>
          </a:p>
          <a:p>
            <a:pPr/>
            <a:r>
              <a:rPr sz="2000"/>
              <a:t>Benefits of a Centralized MDG Solution</a:t>
            </a:r>
          </a:p>
          <a:p>
            <a:pPr/>
            <a:r>
              <a:rPr sz="2000"/>
              <a:t>Implementation Strategy &amp; Considerations</a:t>
            </a:r>
          </a:p>
          <a:p>
            <a:pPr/>
            <a:r>
              <a:rPr sz="2000"/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Critical Importance of Master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Master Data (e.g., Customer, Vendor, Material, Financial) is the common data set used across an organization's systems.</a:t>
            </a:r>
          </a:p>
          <a:p>
            <a:pPr/>
            <a:r>
              <a:rPr sz="2000"/>
              <a:t>High-quality master data is essential for accurate reporting, effective decision-making, and efficient operations.</a:t>
            </a:r>
          </a:p>
          <a:p>
            <a:pPr/>
            <a:r>
              <a:rPr sz="2000"/>
              <a:t>It's the 'single source of truth' that underpins processes like sales, procurement, finance, and supply chain.</a:t>
            </a:r>
          </a:p>
          <a:p>
            <a:pPr/>
            <a:r>
              <a:rPr sz="2000"/>
              <a:t>Poor master data quality leads to downstream errors, inefficiencies, and increased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Challenges of Inconsistent Master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Data Duplication:</a:t>
            </a:r>
            <a:r>
              <a:rPr sz="2000"/>
              <a:t> Multiple records for the same entity (e.g., customer, vendor).</a:t>
            </a:r>
          </a:p>
          <a:p>
            <a:pPr/>
            <a:r>
              <a:rPr b="1" sz="2000"/>
              <a:t>Data Inaccuracy:</a:t>
            </a:r>
            <a:r>
              <a:rPr sz="2000"/>
              <a:t> Incorrect addresses, incomplete information, outdated details.</a:t>
            </a:r>
          </a:p>
          <a:p>
            <a:pPr/>
            <a:r>
              <a:rPr b="1" sz="2000"/>
              <a:t>Lack of Standardization:</a:t>
            </a:r>
            <a:r>
              <a:rPr sz="2000"/>
              <a:t> Different formats and naming conventions for the same data.</a:t>
            </a:r>
          </a:p>
          <a:p>
            <a:pPr/>
            <a:r>
              <a:rPr b="1" sz="2000"/>
              <a:t>Process Breakdowns:</a:t>
            </a:r>
            <a:r>
              <a:rPr sz="2000"/>
              <a:t> Errors in transactions, incorrect invoices, misrouted shipments.</a:t>
            </a:r>
          </a:p>
          <a:p>
            <a:pPr/>
            <a:r>
              <a:rPr b="1" sz="2000"/>
              <a:t>Compliance &amp; Audit Risks:</a:t>
            </a:r>
            <a:r>
              <a:rPr sz="2000"/>
              <a:t> Difficulty in meeting regulatory requirements and conducting audits.</a:t>
            </a:r>
          </a:p>
          <a:p>
            <a:pPr/>
            <a:r>
              <a:rPr b="1" sz="2000"/>
              <a:t>Poor Analytics:</a:t>
            </a:r>
            <a:r>
              <a:rPr sz="2000"/>
              <a:t> Inaccurate reports and unreliable insights leading to flawed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 Master Data Governance (MDG)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SAP MDG is a comprehensive solution for managing master data centrally across an enterprise.</a:t>
            </a:r>
          </a:p>
          <a:p>
            <a:pPr/>
            <a:r>
              <a:rPr sz="2000"/>
              <a:t>It provides tools to create, change, and archive master data with built-in workflows, validation rules, and governance processes.</a:t>
            </a:r>
          </a:p>
          <a:p>
            <a:pPr/>
            <a:r>
              <a:rPr sz="2000"/>
              <a:t>Leverages the SAP HANA platform for efficient data processing and integration.</a:t>
            </a:r>
          </a:p>
          <a:p>
            <a:pPr/>
            <a:r>
              <a:rPr sz="2000"/>
              <a:t>Ensures a single, consistent, and accurate view of master data across all connected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Capabilities and Components of SAP MDG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Centralized Master Data Hub:</a:t>
            </a:r>
            <a:r>
              <a:rPr sz="2000"/>
              <a:t> Single point of creation and maintenance for master data.</a:t>
            </a:r>
          </a:p>
          <a:p>
            <a:pPr/>
            <a:r>
              <a:rPr b="1" sz="2000"/>
              <a:t>Workflow Management:</a:t>
            </a:r>
            <a:r>
              <a:rPr sz="2000"/>
              <a:t> Configurable approval processes for data changes.</a:t>
            </a:r>
          </a:p>
          <a:p>
            <a:pPr/>
            <a:r>
              <a:rPr b="1" sz="2000"/>
              <a:t>Data Quality and Validation Rules:</a:t>
            </a:r>
            <a:r>
              <a:rPr sz="2000"/>
              <a:t> Enforces data standards and consistency checks.</a:t>
            </a:r>
          </a:p>
          <a:p>
            <a:pPr/>
            <a:r>
              <a:rPr b="1" sz="2000"/>
              <a:t>Hierarchy Management:</a:t>
            </a:r>
            <a:r>
              <a:rPr sz="2000"/>
              <a:t> Manages complex relationships between master data objects.</a:t>
            </a:r>
          </a:p>
          <a:p>
            <a:pPr/>
            <a:r>
              <a:rPr b="1" sz="2000"/>
              <a:t>Data Replication:</a:t>
            </a:r>
            <a:r>
              <a:rPr sz="2000"/>
              <a:t> Distributes high-quality master data to connected SAP and non-SAP systems.</a:t>
            </a:r>
          </a:p>
          <a:p>
            <a:pPr/>
            <a:r>
              <a:rPr b="1" sz="2000"/>
              <a:t>Specific Modules:</a:t>
            </a:r>
            <a:r>
              <a:rPr sz="2000"/>
              <a:t> Support for Financial Master Data, Supplier, Customer, Material, and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Proposal: Implementing SAP MDG for Key Domains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Domain 1: Supplier Master Data Governance:</a:t>
            </a:r>
          </a:p>
          <a:p>
            <a:pPr lvl="1"/>
            <a:r>
              <a:rPr sz="1800"/>
              <a:t>Consolidate supplier information, ensure compliance (e.g., tax IDs), streamline vendor onboarding.</a:t>
            </a:r>
          </a:p>
          <a:p>
            <a:pPr/>
            <a:r>
              <a:rPr b="1" sz="2000"/>
              <a:t>Domain 2: Customer Master Data Governance:</a:t>
            </a:r>
          </a:p>
          <a:p>
            <a:pPr lvl="1"/>
            <a:r>
              <a:rPr sz="1800"/>
              <a:t>Create a 360-degree view of customers, eliminate duplicates, ensure accurate billing and shipping.</a:t>
            </a:r>
          </a:p>
          <a:p>
            <a:pPr/>
            <a:r>
              <a:rPr b="1" sz="2000"/>
              <a:t>Domain 3: Material Master Data Governance:</a:t>
            </a:r>
          </a:p>
          <a:p>
            <a:pPr lvl="1"/>
            <a:r>
              <a:rPr sz="1800"/>
              <a:t>Standardize material descriptions, ensure consistency for inventory, procurement, and sales processes.</a:t>
            </a:r>
          </a:p>
          <a:p>
            <a:pPr/>
            <a:r>
              <a:rPr b="1" sz="2000"/>
              <a:t>Domain 4: Financial Master Data Governance:</a:t>
            </a:r>
          </a:p>
          <a:p>
            <a:pPr lvl="1"/>
            <a:r>
              <a:rPr sz="1800"/>
              <a:t>Manage Chart of Accounts, Cost Centers, Profit Centers for accurate financial reporting and consolidation.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Benefits of a Centralized MDG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Improved Data Accuracy &amp; Consistency:</a:t>
            </a:r>
            <a:r>
              <a:rPr sz="2000"/>
              <a:t> Eliminates errors and ensures reliable data across the enterprise.</a:t>
            </a:r>
          </a:p>
          <a:p>
            <a:pPr/>
            <a:r>
              <a:rPr sz="2000"/>
              <a:t> </a:t>
            </a:r>
            <a:r>
              <a:rPr b="1" sz="2000"/>
              <a:t>Enhanced Operational Efficiency:</a:t>
            </a:r>
            <a:r>
              <a:rPr sz="2000"/>
              <a:t> Streamlined processes, reduced manual effort, and faster transaction processing.</a:t>
            </a:r>
          </a:p>
          <a:p>
            <a:pPr/>
            <a:r>
              <a:rPr sz="2000"/>
              <a:t> </a:t>
            </a:r>
            <a:r>
              <a:rPr b="1" sz="2000"/>
              <a:t>Reduced Costs:</a:t>
            </a:r>
            <a:r>
              <a:rPr sz="2000"/>
              <a:t> Minimizes errors, rework, and duplicate data maintenance efforts.</a:t>
            </a:r>
          </a:p>
          <a:p>
            <a:pPr/>
            <a:r>
              <a:rPr sz="2000"/>
              <a:t> </a:t>
            </a:r>
            <a:r>
              <a:rPr b="1" sz="2000"/>
              <a:t>Better Decision-Making:</a:t>
            </a:r>
            <a:r>
              <a:rPr sz="2000"/>
              <a:t> Reliable data leads to more accurate reporting and insights.</a:t>
            </a:r>
          </a:p>
          <a:p>
            <a:pPr/>
            <a:r>
              <a:rPr sz="2000"/>
              <a:t> </a:t>
            </a:r>
            <a:r>
              <a:rPr b="1" sz="2000"/>
              <a:t>Streamlined Compliance:</a:t>
            </a:r>
            <a:r>
              <a:rPr sz="2000"/>
              <a:t> Easier to meet regulatory requirements and perform audits.</a:t>
            </a:r>
          </a:p>
          <a:p>
            <a:pPr/>
            <a:r>
              <a:rPr sz="2000"/>
              <a:t> </a:t>
            </a:r>
            <a:r>
              <a:rPr b="1" sz="2000"/>
              <a:t>Agility &amp; Adaptability:</a:t>
            </a:r>
            <a:r>
              <a:rPr sz="2000"/>
              <a:t> Foundation for new initiatives and digital transformation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Strategy &amp;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2000"/>
              <a:t>Define Data Scope &amp; Strategy:</a:t>
            </a:r>
            <a:r>
              <a:rPr sz="2000"/>
              <a:t> Clearly identify which master data domains are critical and in scope.</a:t>
            </a:r>
          </a:p>
          <a:p>
            <a:pPr/>
            <a:r>
              <a:rPr b="1" sz="2000"/>
              <a:t>Establish Data Governance Council:</a:t>
            </a:r>
            <a:r>
              <a:rPr sz="2000"/>
              <a:t> Define roles, responsibilities, and policies for data stewardship.</a:t>
            </a:r>
          </a:p>
          <a:p>
            <a:pPr/>
            <a:r>
              <a:rPr b="1" sz="2000"/>
              <a:t>Process Design:</a:t>
            </a:r>
            <a:r>
              <a:rPr sz="2000"/>
              <a:t> Map existing processes and design new, standardized workflows for master data management.</a:t>
            </a:r>
          </a:p>
          <a:p>
            <a:pPr/>
            <a:r>
              <a:rPr b="1" sz="2000"/>
              <a:t>Data Cleansing &amp; Enrichment:</a:t>
            </a:r>
            <a:r>
              <a:rPr sz="2000"/>
              <a:t> Critical upfront effort to clean existing data before migration.</a:t>
            </a:r>
          </a:p>
          <a:p>
            <a:pPr/>
            <a:r>
              <a:rPr b="1" sz="2000"/>
              <a:t>Phased Rollout:</a:t>
            </a:r>
            <a:r>
              <a:rPr sz="2000"/>
              <a:t> Start with one or two key domains and expand incrementally.</a:t>
            </a:r>
          </a:p>
          <a:p>
            <a:pPr/>
            <a:r>
              <a:rPr b="1" sz="2000"/>
              <a:t>Change Management:</a:t>
            </a:r>
            <a:r>
              <a:rPr sz="2000"/>
              <a:t> Crucial for user adoption and adherence to new governance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Conduct a master data assessment to understand current state and identify key pain points.</a:t>
            </a:r>
          </a:p>
          <a:p>
            <a:pPr/>
            <a:r>
              <a:rPr sz="2000"/>
              <a:t>Define the business case and ROI for implementing SAP MDG.</a:t>
            </a:r>
          </a:p>
          <a:p>
            <a:pPr/>
            <a:r>
              <a:rPr sz="2000"/>
              <a:t>Prioritize the master data domains for initial implementation.</a:t>
            </a:r>
          </a:p>
          <a:p>
            <a:pPr/>
            <a:r>
              <a:rPr sz="2000"/>
              <a:t>Engage with SAP and implementation partners to develop a detailed roadmap.</a:t>
            </a:r>
          </a:p>
          <a:p>
            <a:pPr/>
            <a:r>
              <a:rPr sz="2000"/>
              <a:t>Let's discuss how SAP MDG can transform your data foundation. What are your primary concerns regarding master data quality today?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